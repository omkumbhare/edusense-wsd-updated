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Professor Patel and evaluators. I am Om Kumbhare, enrollment number ET23BTEC026, 4th year student in Electronics and Communication Engineering with Honors in AIML, Academic Year 2026-27 Semester 6. Today, I am presenting my final mini-project for MT-AIML Problem 13 titled 'Dictionary and Thesaurus-Based Word Sense Disambiguation for Educational Transcripts' under the guidance of Prof. Dr. Niteenbhai Patel.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introduces the fundamental problem. Word Sense Disambiguation is an open NLP challenge. In educational lectures, ambiguous terms like 'bank' appear frequently. As shown on the right, in a geology transcript with words like 'river' and 'erosion', bank means sloping land. In an economics transcript with 'deposits' and 'interest', it means a financial institution. Surrounding context is the key to identifying the intended meaning.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delve deeper into why dictionary lookup alone is insufficient. WordNet provides dozens of senses for academic words. Furthermore, dictionary glosses are very short—often just 5 words long. If we only count raw exact word matches, the overlap is almost always zero. That is why our implementation incorporates lemmatization, example sentence matching, and thesaurus synonym expansion.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outlines our key project objectives and high-level architectural flow. The objectives cover input processing, context extraction, WordNet querying, multi-factor scoring, empirical evaluation, and web app delivery. The diagram on the right shows our end-to-end pipeline from raw transcript down to predicted sense and decision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defines our solution boundaries. In scope, we focus on English academic transcripts, NLTK WordNet data, and explainable multi-factor scoring. Crucially, no paid or black-box LLM APIs are used. Limitations include dependency on WordNet gloss coverage. Future work can extend this with contextual Transformer embeddings.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presents a survey of established WSD paradigms. Standard Lesk was introduced in 1986. NLTK's Simplified Lesk is a well-known baseline. Supervised WSD requires massive sense-tagged datasets like SemCor. Modern Transformers give high accuracy but act as black boxes. Our EduSense method enhances Lesk with thesaurus expansion and POS filtering while maintaining 100%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cites established research literature including Michael Lesk's original 1986 paper, George Miller's 1995 WordNet paper, and Banerjee &amp; Pedersen's 2002 Extended Lesk paper. On the right, we explicitly detail how our EduSense engine improves upon these baseline works through multi-factor weighting and thesaurus expansion.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illustrates our modular code architecture. We created 7 specialized Python modules inside the src directory: context_extractor handles windowing, preprocessing handles tokenization and lemmatization, wordnet_engine fetches synsets and synonyms, wsd_engine calculates weighted overlap scores, evaluation runs benchmark tests, and app.py serves the Flask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outlines our systematic work plan spanning five structured phases: Phase 1 focused on Problem 13 requirements and educational transcript corpus curation; Phase 2 developed text preprocessing and WordNet interfaces; Phase 3 designed the custom multi-factor scoring and thesaurus expansion algorithms; Phase 4 built the interactive Flask web application; and Phase 5 delivered empirical benchmarking, 18 unit tests, PDF documentation, and Render cloud readiness.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contains our exact mathematical formulations and pseudocode. The multi-factor score combines direct token matches weighted at 1.5, lemma matches at 1.2, example matches at 1.0, thesaurus synonyms at 0.7, and hypernym hierarchy matches at 0.5. We explicitly subtract the target word itself from context lemmas to avoid self-matching bias.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web application user interface built using Flask, HTML5, Bootstrap 5, and Chart.js. The app contains 5 distinct pages: Home Dashboard, Interactive WSD Analyzer, Results &amp; XAI Spotlight, Empirical Evaluation Dashboard, and Methodology Viva Guide. Screen placeholders mark where live browser screenshots are presented.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demonstrates an actual working output trace generated by running our code on a geology transcript. For target word 'bank', the context window extracts 'river', 'soil', 'erosion', and 'water'. The preprocessing pipeline filters stop-words and lemmatizes tokens. The system evaluates all 10 candidate synsets, predicting bank.n.01 with a score of 6.4 and 58.2% relative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presents our empirical evaluation benchmark. Tested on 25 labeled educational transcripts across 18 target words, EduSense achieved 56.0% accuracy (14 correct) compared to 40.0% accuracy (10 correct) for NLTK Simplified Lesk baseline—a +16.0% improvement. Error analysis shows that failure cases occur primarily when WordNet glosses are sparse.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divides our final summary into Project Conclusion, Key Academic Learnings, and Future Directions. We successfully built a working, explainable WSD engine that outperforms baseline Lesk. Academic learnings cover NLTK, WordNet, lexical semantics, and Flask web development. Future work includes dense Transformer embeddings.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guides the live demonstration for evaluators. We show how to launch the Flask server locally with 'python app.py', navigate to the interactive WSD Analyzer, run disambiguation on sample transcripts, inspect decision evidence badges, and view the benchmark evaluation dashboard.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contains formal academic references formatted in standard IEEE/APA citation style. It lists Michael Lesk's 1986 landmark paper, George Miller's 1995 WordNet paper, Banerjee and Pedersen's 2002 Adapted Lesk paper, NLTK documentation, Jurafsky &amp; Martin's NLP textbook, and the official SCET Problem 13 assignment specification.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731520"/>
            <a:ext cx="10728655" cy="2011680"/>
          </a:xfrm>
          <a:prstGeom prst="roundRect">
            <a:avLst/>
          </a:prstGeom>
          <a:solidFill>
            <a:srgbClr val="1E293B"/>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1645920"/>
          </a:xfrm>
          <a:prstGeom prst="rect">
            <a:avLst/>
          </a:prstGeom>
          <a:noFill/>
        </p:spPr>
        <p:txBody>
          <a:bodyPr wrap="square">
            <a:spAutoFit/>
          </a:bodyPr>
          <a:lstStyle/>
          <a:p>
            <a:pPr>
              <a:defRPr sz="2000" b="1">
                <a:solidFill>
                  <a:srgbClr val="00F2FE"/>
                </a:solidFill>
                <a:latin typeface="Georgia"/>
              </a:defRPr>
            </a:pPr>
            <a:r>
              <a:t>PROBLEM 13: DICTIONARY AND THESAURUS-BASED WORD SENSE DISAMBIGUATION FOR EDUCATIONAL TRANSCRIPTS</a:t>
            </a:r>
          </a:p>
          <a:p>
            <a:pPr>
              <a:spcBef>
                <a:spcPts val="800"/>
              </a:spcBef>
              <a:defRPr sz="1300">
                <a:solidFill>
                  <a:srgbClr val="38BDF8"/>
                </a:solidFill>
              </a:defRPr>
            </a:pPr>
            <a:r>
              <a:t>Modern Trends in Artificial Intelligence &amp; Machine Learning (MT-AIML) — Final Mini Project Presentation</a:t>
            </a:r>
          </a:p>
        </p:txBody>
      </p:sp>
      <p:sp>
        <p:nvSpPr>
          <p:cNvPr id="4" name="Rounded Rectangle 3"/>
          <p:cNvSpPr/>
          <p:nvPr/>
        </p:nvSpPr>
        <p:spPr>
          <a:xfrm>
            <a:off x="731520" y="2926080"/>
            <a:ext cx="5212080" cy="3383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017520"/>
            <a:ext cx="4846320" cy="3200400"/>
          </a:xfrm>
          <a:prstGeom prst="rect">
            <a:avLst/>
          </a:prstGeom>
          <a:noFill/>
        </p:spPr>
        <p:txBody>
          <a:bodyPr wrap="square">
            <a:spAutoFit/>
          </a:bodyPr>
          <a:lstStyle/>
          <a:p>
            <a:pPr>
              <a:defRPr sz="1300" b="1">
                <a:solidFill>
                  <a:srgbClr val="00F2FE"/>
                </a:solidFill>
              </a:defRPr>
            </a:pPr>
            <a:r>
              <a:t>STUDENT &amp; COURSE DETAILS</a:t>
            </a:r>
          </a:p>
          <a:p>
            <a:pPr>
              <a:spcBef>
                <a:spcPts val="500"/>
              </a:spcBef>
              <a:defRPr sz="1050">
                <a:solidFill>
                  <a:srgbClr val="F8FAFC"/>
                </a:solidFill>
              </a:defRPr>
            </a:pPr>
            <a:r>
              <a:t>Student Name: Om Kumbhare</a:t>
            </a:r>
          </a:p>
          <a:p>
            <a:pPr>
              <a:spcBef>
                <a:spcPts val="500"/>
              </a:spcBef>
              <a:defRPr sz="1050">
                <a:solidFill>
                  <a:srgbClr val="F8FAFC"/>
                </a:solidFill>
              </a:defRPr>
            </a:pPr>
            <a:r>
              <a:t>Enrollment No.: ET23BTEC026</a:t>
            </a:r>
          </a:p>
          <a:p>
            <a:pPr>
              <a:spcBef>
                <a:spcPts val="500"/>
              </a:spcBef>
              <a:defRPr sz="1050">
                <a:solidFill>
                  <a:srgbClr val="F8FAFC"/>
                </a:solidFill>
              </a:defRPr>
            </a:pPr>
            <a:r>
              <a:t>Academic Year &amp; Sem: 2026–27 | Semester 6 (4th Year ECE)</a:t>
            </a:r>
          </a:p>
          <a:p>
            <a:pPr>
              <a:spcBef>
                <a:spcPts val="500"/>
              </a:spcBef>
              <a:defRPr sz="1050">
                <a:solidFill>
                  <a:srgbClr val="F8FAFC"/>
                </a:solidFill>
              </a:defRPr>
            </a:pPr>
            <a:r>
              <a:t>Email Address: [STUDENT EMAIL ADDRESS]</a:t>
            </a:r>
          </a:p>
          <a:p>
            <a:pPr>
              <a:spcBef>
                <a:spcPts val="500"/>
              </a:spcBef>
              <a:defRPr sz="1050">
                <a:solidFill>
                  <a:srgbClr val="F8FAFC"/>
                </a:solidFill>
              </a:defRPr>
            </a:pPr>
            <a:r>
              <a:t>Mobile Number: [STUDENT MOBILE NUMBER]</a:t>
            </a:r>
          </a:p>
          <a:p>
            <a:pPr>
              <a:spcBef>
                <a:spcPts val="500"/>
              </a:spcBef>
              <a:defRPr sz="1050">
                <a:solidFill>
                  <a:srgbClr val="F8FAFC"/>
                </a:solidFill>
              </a:defRPr>
            </a:pPr>
            <a:r>
              <a:t>Honors Specialization: Artificial Intelligence &amp; Machine Learning</a:t>
            </a:r>
          </a:p>
          <a:p>
            <a:pPr>
              <a:spcBef>
                <a:spcPts val="500"/>
              </a:spcBef>
              <a:defRPr sz="1050">
                <a:solidFill>
                  <a:srgbClr val="F8FAFC"/>
                </a:solidFill>
              </a:defRPr>
            </a:pPr>
            <a:r>
              <a:t>Student Photograph: [STUDENT PHOTOGRAPH PLACEHOLDER]</a:t>
            </a:r>
          </a:p>
        </p:txBody>
      </p:sp>
      <p:sp>
        <p:nvSpPr>
          <p:cNvPr id="6" name="Rounded Rectangle 5"/>
          <p:cNvSpPr/>
          <p:nvPr/>
        </p:nvSpPr>
        <p:spPr>
          <a:xfrm>
            <a:off x="6248095" y="2926080"/>
            <a:ext cx="5212080" cy="3383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0975" y="3017520"/>
            <a:ext cx="4846320" cy="3200400"/>
          </a:xfrm>
          <a:prstGeom prst="rect">
            <a:avLst/>
          </a:prstGeom>
          <a:noFill/>
        </p:spPr>
        <p:txBody>
          <a:bodyPr wrap="square">
            <a:spAutoFit/>
          </a:bodyPr>
          <a:lstStyle/>
          <a:p>
            <a:pPr>
              <a:defRPr sz="1300" b="1">
                <a:solidFill>
                  <a:srgbClr val="00F2FE"/>
                </a:solidFill>
              </a:defRPr>
            </a:pPr>
            <a:r>
              <a:t>INSTITUTION &amp; SUBMISSION DETAILS</a:t>
            </a:r>
          </a:p>
          <a:p>
            <a:pPr>
              <a:spcBef>
                <a:spcPts val="500"/>
              </a:spcBef>
              <a:defRPr sz="1050">
                <a:solidFill>
                  <a:srgbClr val="F8FAFC"/>
                </a:solidFill>
              </a:defRPr>
            </a:pPr>
            <a:r>
              <a:t>Problem Addressed: Problem 13 — Dictionary &amp; Thesaurus WSD</a:t>
            </a:r>
          </a:p>
          <a:p>
            <a:pPr>
              <a:spcBef>
                <a:spcPts val="500"/>
              </a:spcBef>
              <a:defRPr sz="1050">
                <a:solidFill>
                  <a:srgbClr val="F8FAFC"/>
                </a:solidFill>
              </a:defRPr>
            </a:pPr>
            <a:r>
              <a:t>Subject / Course: Modern Trends in AIML (MT-AIML Mini Project)</a:t>
            </a:r>
          </a:p>
          <a:p>
            <a:pPr>
              <a:spcBef>
                <a:spcPts val="500"/>
              </a:spcBef>
              <a:defRPr sz="1050">
                <a:solidFill>
                  <a:srgbClr val="F8FAFC"/>
                </a:solidFill>
              </a:defRPr>
            </a:pPr>
            <a:r>
              <a:t>College Name: Sarvajanik College of Engineering and Technology</a:t>
            </a:r>
          </a:p>
          <a:p>
            <a:pPr>
              <a:spcBef>
                <a:spcPts val="500"/>
              </a:spcBef>
              <a:defRPr sz="1050">
                <a:solidFill>
                  <a:srgbClr val="F8FAFC"/>
                </a:solidFill>
              </a:defRPr>
            </a:pPr>
            <a:r>
              <a:t>Faculty Guide: Prof. Dr. Niteenbhai Patel</a:t>
            </a:r>
          </a:p>
          <a:p>
            <a:pPr>
              <a:spcBef>
                <a:spcPts val="500"/>
              </a:spcBef>
              <a:defRPr sz="1050">
                <a:solidFill>
                  <a:srgbClr val="F8FAFC"/>
                </a:solidFill>
              </a:defRPr>
            </a:pPr>
            <a:r>
              <a:t>Date of Submission: [DATE OF SUBMISSION]</a:t>
            </a:r>
          </a:p>
          <a:p>
            <a:pPr>
              <a:spcBef>
                <a:spcPts val="500"/>
              </a:spcBef>
              <a:defRPr sz="1050">
                <a:solidFill>
                  <a:srgbClr val="F8FAFC"/>
                </a:solidFill>
              </a:defRPr>
            </a:pPr>
            <a:r>
              <a:t>Institutional Mark: [COLLEGE LOGO PLACEHOLDER]</a:t>
            </a:r>
          </a:p>
          <a:p>
            <a:pPr>
              <a:spcBef>
                <a:spcPts val="500"/>
              </a:spcBef>
              <a:defRPr sz="1050">
                <a:solidFill>
                  <a:srgbClr val="F8FAFC"/>
                </a:solidFill>
              </a:defRPr>
            </a:pPr>
            <a:r>
              <a:t>Implementation: 100% Python, NLTK WordNet &amp; Flask Web 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Problem Introduction: Lexical Ambiguity in Lecture Transcripts</a:t>
            </a:r>
          </a:p>
        </p:txBody>
      </p:sp>
      <p:sp>
        <p:nvSpPr>
          <p:cNvPr id="4" name="Rounded Rectangle 3"/>
          <p:cNvSpPr/>
          <p:nvPr/>
        </p:nvSpPr>
        <p:spPr>
          <a:xfrm>
            <a:off x="731520" y="1371600"/>
            <a:ext cx="521208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846320" cy="4480560"/>
          </a:xfrm>
          <a:prstGeom prst="rect">
            <a:avLst/>
          </a:prstGeom>
          <a:noFill/>
        </p:spPr>
        <p:txBody>
          <a:bodyPr wrap="square">
            <a:spAutoFit/>
          </a:bodyPr>
          <a:lstStyle/>
          <a:p>
            <a:pPr>
              <a:defRPr sz="1400" b="1">
                <a:solidFill>
                  <a:srgbClr val="00F2FE"/>
                </a:solidFill>
              </a:defRPr>
            </a:pPr>
            <a:r>
              <a:t>WHAT IS WORD SENSE DISAMBIGUATION (WSD)?</a:t>
            </a:r>
          </a:p>
          <a:p>
            <a:pPr>
              <a:spcBef>
                <a:spcPts val="1000"/>
              </a:spcBef>
              <a:defRPr sz="1100">
                <a:solidFill>
                  <a:srgbClr val="F8FAFC"/>
                </a:solidFill>
              </a:defRPr>
            </a:pPr>
            <a:r>
              <a:t>• WSD is an essential Natural Language Processing (NLP) task that determines which exact dictionary sense of a polysemous word is used in a specific context.</a:t>
            </a:r>
          </a:p>
          <a:p>
            <a:pPr>
              <a:spcBef>
                <a:spcPts val="1000"/>
              </a:spcBef>
              <a:defRPr sz="1100">
                <a:solidFill>
                  <a:srgbClr val="F8FAFC"/>
                </a:solidFill>
              </a:defRPr>
            </a:pPr>
            <a:r>
              <a:t>• Polysemy Definition: A single lexical word form possessing multiple distinct or related dictionary meanings.</a:t>
            </a:r>
          </a:p>
          <a:p>
            <a:pPr>
              <a:spcBef>
                <a:spcPts val="1000"/>
              </a:spcBef>
              <a:defRPr sz="1100">
                <a:solidFill>
                  <a:srgbClr val="F8FAFC"/>
                </a:solidFill>
              </a:defRPr>
            </a:pPr>
            <a:r>
              <a:t>• Educational Challenge: Academic lecture transcripts contain dense domain vocabulary. The same word carries fundamentally different meanings depending on the subject matter.</a:t>
            </a:r>
          </a:p>
          <a:p>
            <a:pPr>
              <a:spcBef>
                <a:spcPts val="1000"/>
              </a:spcBef>
              <a:defRPr sz="1100">
                <a:solidFill>
                  <a:srgbClr val="F8FAFC"/>
                </a:solidFill>
              </a:defRPr>
            </a:pPr>
            <a:r>
              <a:t>• Core Goal: Automatically identify the correct WordNet synset using surrounding transcript tokens without relying on black-box LLMs.</a:t>
            </a:r>
          </a:p>
        </p:txBody>
      </p:sp>
      <p:sp>
        <p:nvSpPr>
          <p:cNvPr id="6" name="Rounded Rectangle 5"/>
          <p:cNvSpPr/>
          <p:nvPr/>
        </p:nvSpPr>
        <p:spPr>
          <a:xfrm>
            <a:off x="6248095" y="1371600"/>
            <a:ext cx="521208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0975" y="1554480"/>
            <a:ext cx="4846320" cy="4480560"/>
          </a:xfrm>
          <a:prstGeom prst="rect">
            <a:avLst/>
          </a:prstGeom>
          <a:noFill/>
        </p:spPr>
        <p:txBody>
          <a:bodyPr wrap="square">
            <a:spAutoFit/>
          </a:bodyPr>
          <a:lstStyle/>
          <a:p>
            <a:pPr>
              <a:defRPr sz="1400" b="1">
                <a:solidFill>
                  <a:srgbClr val="00F2FE"/>
                </a:solidFill>
              </a:defRPr>
            </a:pPr>
            <a:r>
              <a:t>ILLUSTRATIVE LECTURE EXAMPLES</a:t>
            </a:r>
          </a:p>
          <a:p>
            <a:pPr>
              <a:spcBef>
                <a:spcPts val="1000"/>
              </a:spcBef>
              <a:defRPr sz="1200" b="1">
                <a:solidFill>
                  <a:srgbClr val="F59E0B"/>
                </a:solidFill>
              </a:defRPr>
            </a:pPr>
            <a:r>
              <a:t>Target Word: 'BANK'</a:t>
            </a:r>
          </a:p>
          <a:p>
            <a:pPr>
              <a:spcBef>
                <a:spcPts val="400"/>
              </a:spcBef>
              <a:defRPr sz="1000">
                <a:solidFill>
                  <a:srgbClr val="F8FAFC"/>
                </a:solidFill>
              </a:defRPr>
            </a:pPr>
            <a:r>
              <a:t>Example A (Geology Lecture):</a:t>
            </a:r>
          </a:p>
          <a:p>
            <a:pPr>
              <a:spcBef>
                <a:spcPts val="400"/>
              </a:spcBef>
              <a:defRPr sz="1000">
                <a:solidFill>
                  <a:srgbClr val="F8FAFC"/>
                </a:solidFill>
              </a:defRPr>
            </a:pPr>
            <a:r>
              <a:t>"The geologists surveyed the river bank to measure soil erosion."</a:t>
            </a:r>
          </a:p>
          <a:p>
            <a:pPr>
              <a:spcBef>
                <a:spcPts val="400"/>
              </a:spcBef>
              <a:defRPr sz="1000">
                <a:solidFill>
                  <a:srgbClr val="F8FAFC"/>
                </a:solidFill>
              </a:defRPr>
            </a:pPr>
            <a:r>
              <a:t>→ Context words: 'river', 'soil', 'erosion', 'water'</a:t>
            </a:r>
          </a:p>
          <a:p>
            <a:pPr>
              <a:spcBef>
                <a:spcPts val="400"/>
              </a:spcBef>
              <a:defRPr sz="1000">
                <a:solidFill>
                  <a:srgbClr val="10B981"/>
                </a:solidFill>
              </a:defRPr>
            </a:pPr>
            <a:r>
              <a:t>→ Predicted Sense: bank.n.01 (Sloping land beside water)</a:t>
            </a:r>
          </a:p>
          <a:p>
            <a:pPr>
              <a:spcBef>
                <a:spcPts val="400"/>
              </a:spcBef>
              <a:defRPr sz="1000">
                <a:solidFill>
                  <a:srgbClr val="F8FAFC"/>
                </a:solidFill>
              </a:defRPr>
            </a:pPr>
            <a:r>
              <a:t>Example B (Economics Lecture):</a:t>
            </a:r>
          </a:p>
          <a:p>
            <a:pPr>
              <a:spcBef>
                <a:spcPts val="400"/>
              </a:spcBef>
              <a:defRPr sz="1000">
                <a:solidFill>
                  <a:srgbClr val="F8FAFC"/>
                </a:solidFill>
              </a:defRPr>
            </a:pPr>
            <a:r>
              <a:t>"The commercial bank manages monetary deposits and interest rates."</a:t>
            </a:r>
          </a:p>
          <a:p>
            <a:pPr>
              <a:spcBef>
                <a:spcPts val="400"/>
              </a:spcBef>
              <a:defRPr sz="1000">
                <a:solidFill>
                  <a:srgbClr val="F8FAFC"/>
                </a:solidFill>
              </a:defRPr>
            </a:pPr>
            <a:r>
              <a:t>→ Context words: 'monetary', 'deposits', 'loan', 'interest'</a:t>
            </a:r>
          </a:p>
          <a:p>
            <a:pPr>
              <a:spcBef>
                <a:spcPts val="400"/>
              </a:spcBef>
              <a:defRPr sz="1000">
                <a:solidFill>
                  <a:srgbClr val="10B981"/>
                </a:solidFill>
              </a:defRPr>
            </a:pPr>
            <a:r>
              <a:t>→ Predicted Sense: depository_financial_institution.n.01 (Financial bank)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Detailed Problem Understanding: Academic Transcript Constraints</a:t>
            </a:r>
          </a:p>
        </p:txBody>
      </p:sp>
      <p:sp>
        <p:nvSpPr>
          <p:cNvPr id="4" name="Rounded Rectangle 3"/>
          <p:cNvSpPr/>
          <p:nvPr/>
        </p:nvSpPr>
        <p:spPr>
          <a:xfrm>
            <a:off x="731520" y="1371600"/>
            <a:ext cx="107286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80015" cy="4480560"/>
          </a:xfrm>
          <a:prstGeom prst="rect">
            <a:avLst/>
          </a:prstGeom>
          <a:noFill/>
        </p:spPr>
        <p:txBody>
          <a:bodyPr wrap="square">
            <a:spAutoFit/>
          </a:bodyPr>
          <a:lstStyle/>
          <a:p>
            <a:pPr>
              <a:defRPr sz="1400" b="1">
                <a:solidFill>
                  <a:srgbClr val="00F2FE"/>
                </a:solidFill>
              </a:defRPr>
            </a:pPr>
            <a:r>
              <a:t>WHY DICTIONARY LOOKUP ALONE FAILS WITHOUT CONTEXT MATCHING</a:t>
            </a:r>
          </a:p>
          <a:p>
            <a:pPr>
              <a:spcBef>
                <a:spcPts val="1000"/>
              </a:spcBef>
              <a:defRPr sz="1200" b="1">
                <a:solidFill>
                  <a:srgbClr val="38BDF8"/>
                </a:solidFill>
              </a:defRPr>
            </a:pPr>
            <a:r>
              <a:t>1. High Fine-Grained WordNet Polysemy:</a:t>
            </a:r>
          </a:p>
          <a:p>
            <a:pPr>
              <a:spcBef>
                <a:spcPts val="200"/>
              </a:spcBef>
              <a:defRPr sz="1000">
                <a:solidFill>
                  <a:srgbClr val="F8FAFC"/>
                </a:solidFill>
              </a:defRPr>
            </a:pPr>
            <a:r>
              <a:t>Standard academic words have numerous dictionary senses (e.g., 'bank' has 10+ synsets, 'light' has 20+, 'point' has 30+). Simply looking up a word returns all senses without indicating which one applies.</a:t>
            </a:r>
          </a:p>
          <a:p>
            <a:pPr>
              <a:spcBef>
                <a:spcPts val="1000"/>
              </a:spcBef>
              <a:defRPr sz="1200" b="1">
                <a:solidFill>
                  <a:srgbClr val="38BDF8"/>
                </a:solidFill>
              </a:defRPr>
            </a:pPr>
            <a:r>
              <a:t>2. Transcript Noisiness &amp; Speech Artifacts:</a:t>
            </a:r>
          </a:p>
          <a:p>
            <a:pPr>
              <a:spcBef>
                <a:spcPts val="200"/>
              </a:spcBef>
              <a:defRPr sz="1000">
                <a:solidFill>
                  <a:srgbClr val="F8FAFC"/>
                </a:solidFill>
              </a:defRPr>
            </a:pPr>
            <a:r>
              <a:t>Lecture transcripts generated by Automatic Speech Recognition (ASR) lack formal punctuation and contain conversational speech filler, making simple keyword matching fragile.</a:t>
            </a:r>
          </a:p>
          <a:p>
            <a:pPr>
              <a:spcBef>
                <a:spcPts val="1000"/>
              </a:spcBef>
              <a:defRPr sz="1200" b="1">
                <a:solidFill>
                  <a:srgbClr val="38BDF8"/>
                </a:solidFill>
              </a:defRPr>
            </a:pPr>
            <a:r>
              <a:t>3. Concise Dictionary Gloss Definitions:</a:t>
            </a:r>
          </a:p>
          <a:p>
            <a:pPr>
              <a:spcBef>
                <a:spcPts val="200"/>
              </a:spcBef>
              <a:defRPr sz="1000">
                <a:solidFill>
                  <a:srgbClr val="F8FAFC"/>
                </a:solidFill>
              </a:defRPr>
            </a:pPr>
            <a:r>
              <a:t>WordNet gloss definitions are extremely brief (often 5 to 10 words). Direct overlap between a transcript and a single gloss definition is frequently zero unless lemma and synonym expansion are used.</a:t>
            </a:r>
          </a:p>
          <a:p>
            <a:pPr>
              <a:spcBef>
                <a:spcPts val="1000"/>
              </a:spcBef>
              <a:defRPr sz="1200" b="1">
                <a:solidFill>
                  <a:srgbClr val="38BDF8"/>
                </a:solidFill>
              </a:defRPr>
            </a:pPr>
            <a:r>
              <a:t>4. Core Problem Requirement:</a:t>
            </a:r>
          </a:p>
          <a:p>
            <a:pPr>
              <a:spcBef>
                <a:spcPts val="200"/>
              </a:spcBef>
              <a:defRPr sz="1000">
                <a:solidFill>
                  <a:srgbClr val="F8FAFC"/>
                </a:solidFill>
              </a:defRPr>
            </a:pPr>
            <a:r>
              <a:t>Problem 13 mandates constructing an explicit context-gloss overlap engine using WordNet, preprocessing transcript context, and evaluating scores to rank candidate senses without relying on external LLM APIs.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Project Objectives &amp; Core Algorithmic Idea</a:t>
            </a:r>
          </a:p>
        </p:txBody>
      </p:sp>
      <p:sp>
        <p:nvSpPr>
          <p:cNvPr id="4" name="Rounded Rectangle 3"/>
          <p:cNvSpPr/>
          <p:nvPr/>
        </p:nvSpPr>
        <p:spPr>
          <a:xfrm>
            <a:off x="731520" y="1371600"/>
            <a:ext cx="521208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846320" cy="4480560"/>
          </a:xfrm>
          <a:prstGeom prst="rect">
            <a:avLst/>
          </a:prstGeom>
          <a:noFill/>
        </p:spPr>
        <p:txBody>
          <a:bodyPr wrap="square">
            <a:spAutoFit/>
          </a:bodyPr>
          <a:lstStyle/>
          <a:p>
            <a:pPr>
              <a:defRPr sz="1400" b="1">
                <a:solidFill>
                  <a:srgbClr val="00F2FE"/>
                </a:solidFill>
              </a:defRPr>
            </a:pPr>
            <a:r>
              <a:t>PROJECT OBJECTIVES</a:t>
            </a:r>
          </a:p>
          <a:p>
            <a:pPr>
              <a:spcBef>
                <a:spcPts val="600"/>
              </a:spcBef>
              <a:defRPr sz="1000">
                <a:solidFill>
                  <a:srgbClr val="F8FAFC"/>
                </a:solidFill>
              </a:defRPr>
            </a:pPr>
            <a:r>
              <a:t>1. Accept educational lecture transcript text &amp; target word.</a:t>
            </a:r>
          </a:p>
          <a:p>
            <a:pPr>
              <a:spcBef>
                <a:spcPts val="600"/>
              </a:spcBef>
              <a:defRPr sz="1000">
                <a:solidFill>
                  <a:srgbClr val="F8FAFC"/>
                </a:solidFill>
              </a:defRPr>
            </a:pPr>
            <a:r>
              <a:t>2. Extract configurable context window (default ±10 words).</a:t>
            </a:r>
          </a:p>
          <a:p>
            <a:pPr>
              <a:spcBef>
                <a:spcPts val="600"/>
              </a:spcBef>
              <a:defRPr sz="1000">
                <a:solidFill>
                  <a:srgbClr val="F8FAFC"/>
                </a:solidFill>
              </a:defRPr>
            </a:pPr>
            <a:r>
              <a:t>3. Normalize text via lowercasing, tokenization, stop-words &amp; lemmatization.</a:t>
            </a:r>
          </a:p>
          <a:p>
            <a:pPr>
              <a:spcBef>
                <a:spcPts val="600"/>
              </a:spcBef>
              <a:defRPr sz="1000">
                <a:solidFill>
                  <a:srgbClr val="F8FAFC"/>
                </a:solidFill>
              </a:defRPr>
            </a:pPr>
            <a:r>
              <a:t>4. Query WordNet to retrieve all candidate synsets, definitions &amp; examples.</a:t>
            </a:r>
          </a:p>
          <a:p>
            <a:pPr>
              <a:spcBef>
                <a:spcPts val="600"/>
              </a:spcBef>
              <a:defRPr sz="1000">
                <a:solidFill>
                  <a:srgbClr val="F8FAFC"/>
                </a:solidFill>
              </a:defRPr>
            </a:pPr>
            <a:r>
              <a:t>5. Implement transparent multi-factor context-gloss overlap algorithm.</a:t>
            </a:r>
          </a:p>
          <a:p>
            <a:pPr>
              <a:spcBef>
                <a:spcPts val="600"/>
              </a:spcBef>
              <a:defRPr sz="1000">
                <a:solidFill>
                  <a:srgbClr val="F8FAFC"/>
                </a:solidFill>
              </a:defRPr>
            </a:pPr>
            <a:r>
              <a:t>6. Incorporate thesaurus-style synonym expansion for semantic matching.</a:t>
            </a:r>
          </a:p>
          <a:p>
            <a:pPr>
              <a:spcBef>
                <a:spcPts val="600"/>
              </a:spcBef>
              <a:defRPr sz="1000">
                <a:solidFill>
                  <a:srgbClr val="F8FAFC"/>
                </a:solidFill>
              </a:defRPr>
            </a:pPr>
            <a:r>
              <a:t>7. Rank candidate senses and compute relative confidence.</a:t>
            </a:r>
          </a:p>
          <a:p>
            <a:pPr>
              <a:spcBef>
                <a:spcPts val="600"/>
              </a:spcBef>
              <a:defRPr sz="1000">
                <a:solidFill>
                  <a:srgbClr val="F8FAFC"/>
                </a:solidFill>
              </a:defRPr>
            </a:pPr>
            <a:r>
              <a:t>8. Perform empirical accuracy benchmarking against baseline.</a:t>
            </a:r>
          </a:p>
          <a:p>
            <a:pPr>
              <a:spcBef>
                <a:spcPts val="600"/>
              </a:spcBef>
              <a:defRPr sz="1000">
                <a:solidFill>
                  <a:srgbClr val="F8FAFC"/>
                </a:solidFill>
              </a:defRPr>
            </a:pPr>
            <a:r>
              <a:t>9. Deliver runnable Flask web application with explainable AI (XAI).</a:t>
            </a:r>
          </a:p>
        </p:txBody>
      </p:sp>
      <p:sp>
        <p:nvSpPr>
          <p:cNvPr id="6" name="Rounded Rectangle 5"/>
          <p:cNvSpPr/>
          <p:nvPr/>
        </p:nvSpPr>
        <p:spPr>
          <a:xfrm>
            <a:off x="6248095" y="1371600"/>
            <a:ext cx="521208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0975" y="1554480"/>
            <a:ext cx="4846320" cy="4480560"/>
          </a:xfrm>
          <a:prstGeom prst="rect">
            <a:avLst/>
          </a:prstGeom>
          <a:noFill/>
        </p:spPr>
        <p:txBody>
          <a:bodyPr wrap="square">
            <a:spAutoFit/>
          </a:bodyPr>
          <a:lstStyle/>
          <a:p>
            <a:pPr>
              <a:defRPr sz="1400" b="1">
                <a:solidFill>
                  <a:srgbClr val="00F2FE"/>
                </a:solidFill>
              </a:defRPr>
            </a:pPr>
            <a:r>
              <a:t>PROPOSED SYSTEM PIPELINE</a:t>
            </a:r>
          </a:p>
          <a:p>
            <a:pPr algn="ctr">
              <a:spcBef>
                <a:spcPts val="200"/>
              </a:spcBef>
              <a:defRPr sz="1000" b="1">
                <a:solidFill>
                  <a:srgbClr val="F8FAFC"/>
                </a:solidFill>
              </a:defRPr>
            </a:pPr>
            <a:r>
              <a:t>Educational Transcript Input</a:t>
            </a:r>
          </a:p>
          <a:p>
            <a:pPr algn="ctr">
              <a:spcBef>
                <a:spcPts val="100"/>
              </a:spcBef>
              <a:defRPr sz="1000">
                <a:solidFill>
                  <a:srgbClr val="38BDF8"/>
                </a:solidFill>
              </a:defRPr>
            </a:pPr>
            <a:r>
              <a:t>↓</a:t>
            </a:r>
          </a:p>
          <a:p>
            <a:pPr algn="ctr">
              <a:spcBef>
                <a:spcPts val="200"/>
              </a:spcBef>
              <a:defRPr sz="1000" b="1">
                <a:solidFill>
                  <a:srgbClr val="F8FAFC"/>
                </a:solidFill>
              </a:defRPr>
            </a:pPr>
            <a:r>
              <a:t>Context Extraction (±N words around target)</a:t>
            </a:r>
          </a:p>
          <a:p>
            <a:pPr algn="ctr">
              <a:spcBef>
                <a:spcPts val="100"/>
              </a:spcBef>
              <a:defRPr sz="1000">
                <a:solidFill>
                  <a:srgbClr val="38BDF8"/>
                </a:solidFill>
              </a:defRPr>
            </a:pPr>
            <a:r>
              <a:t>↓</a:t>
            </a:r>
          </a:p>
          <a:p>
            <a:pPr algn="ctr">
              <a:spcBef>
                <a:spcPts val="200"/>
              </a:spcBef>
              <a:defRPr sz="1000" b="1">
                <a:solidFill>
                  <a:srgbClr val="F8FAFC"/>
                </a:solidFill>
              </a:defRPr>
            </a:pPr>
            <a:r>
              <a:t>NLP Preprocessing (POS &amp; Lemmatization)</a:t>
            </a:r>
          </a:p>
          <a:p>
            <a:pPr algn="ctr">
              <a:spcBef>
                <a:spcPts val="100"/>
              </a:spcBef>
              <a:defRPr sz="1000">
                <a:solidFill>
                  <a:srgbClr val="38BDF8"/>
                </a:solidFill>
              </a:defRPr>
            </a:pPr>
            <a:r>
              <a:t>↓</a:t>
            </a:r>
          </a:p>
          <a:p>
            <a:pPr algn="ctr">
              <a:spcBef>
                <a:spcPts val="200"/>
              </a:spcBef>
              <a:defRPr sz="1000" b="1">
                <a:solidFill>
                  <a:srgbClr val="F8FAFC"/>
                </a:solidFill>
              </a:defRPr>
            </a:pPr>
            <a:r>
              <a:t>WordNet Synset &amp; Gloss Retrieval</a:t>
            </a:r>
          </a:p>
          <a:p>
            <a:pPr algn="ctr">
              <a:spcBef>
                <a:spcPts val="100"/>
              </a:spcBef>
              <a:defRPr sz="1000">
                <a:solidFill>
                  <a:srgbClr val="38BDF8"/>
                </a:solidFill>
              </a:defRPr>
            </a:pPr>
            <a:r>
              <a:t>↓</a:t>
            </a:r>
          </a:p>
          <a:p>
            <a:pPr algn="ctr">
              <a:spcBef>
                <a:spcPts val="200"/>
              </a:spcBef>
              <a:defRPr sz="1000" b="1">
                <a:solidFill>
                  <a:srgbClr val="F8FAFC"/>
                </a:solidFill>
              </a:defRPr>
            </a:pPr>
            <a:r>
              <a:t>Thesaurus Synonym Expansion</a:t>
            </a:r>
          </a:p>
          <a:p>
            <a:pPr algn="ctr">
              <a:spcBef>
                <a:spcPts val="100"/>
              </a:spcBef>
              <a:defRPr sz="1000">
                <a:solidFill>
                  <a:srgbClr val="38BDF8"/>
                </a:solidFill>
              </a:defRPr>
            </a:pPr>
            <a:r>
              <a:t>↓</a:t>
            </a:r>
          </a:p>
          <a:p>
            <a:pPr algn="ctr">
              <a:spcBef>
                <a:spcPts val="200"/>
              </a:spcBef>
              <a:defRPr sz="1000" b="1">
                <a:solidFill>
                  <a:srgbClr val="F8FAFC"/>
                </a:solidFill>
              </a:defRPr>
            </a:pPr>
            <a:r>
              <a:t>Multi-Factor Overlap Scoring (Direct + Lemma + Ex + Syn)</a:t>
            </a:r>
          </a:p>
          <a:p>
            <a:pPr algn="ctr">
              <a:spcBef>
                <a:spcPts val="100"/>
              </a:spcBef>
              <a:defRPr sz="1000">
                <a:solidFill>
                  <a:srgbClr val="38BDF8"/>
                </a:solidFill>
              </a:defRPr>
            </a:pPr>
            <a:r>
              <a:t>↓</a:t>
            </a:r>
          </a:p>
          <a:p>
            <a:pPr algn="ctr">
              <a:spcBef>
                <a:spcPts val="200"/>
              </a:spcBef>
              <a:defRPr sz="1000" b="1">
                <a:solidFill>
                  <a:srgbClr val="F8FAFC"/>
                </a:solidFill>
              </a:defRPr>
            </a:pPr>
            <a:r>
              <a:t>Sense Ranking &amp; Relative Confidence Calculation</a:t>
            </a:r>
          </a:p>
          <a:p>
            <a:pPr algn="ctr">
              <a:spcBef>
                <a:spcPts val="100"/>
              </a:spcBef>
              <a:defRPr sz="1000">
                <a:solidFill>
                  <a:srgbClr val="38BDF8"/>
                </a:solidFill>
              </a:defRPr>
            </a:pPr>
            <a:r>
              <a:t>↓</a:t>
            </a:r>
          </a:p>
          <a:p>
            <a:pPr algn="ctr">
              <a:spcBef>
                <a:spcPts val="200"/>
              </a:spcBef>
              <a:defRPr sz="1000" b="1">
                <a:solidFill>
                  <a:srgbClr val="10B981"/>
                </a:solidFill>
              </a:defRPr>
            </a:pPr>
            <a:r>
              <a:t>Predicted Sense Output + XAI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Scope of Solution &amp; System Boundaries</a:t>
            </a:r>
          </a:p>
        </p:txBody>
      </p:sp>
      <p:sp>
        <p:nvSpPr>
          <p:cNvPr id="4" name="Rounded Rectangle 3"/>
          <p:cNvSpPr/>
          <p:nvPr/>
        </p:nvSpPr>
        <p:spPr>
          <a:xfrm>
            <a:off x="731520" y="1371600"/>
            <a:ext cx="10728655"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0362895" cy="2743200"/>
          </a:xfrm>
          <a:prstGeom prst="rect">
            <a:avLst/>
          </a:prstGeom>
          <a:noFill/>
        </p:spPr>
        <p:txBody>
          <a:bodyPr wrap="square">
            <a:spAutoFit/>
          </a:bodyPr>
          <a:lstStyle/>
          <a:p>
            <a:pPr>
              <a:defRPr sz="1300" b="1">
                <a:solidFill>
                  <a:srgbClr val="00F2FE"/>
                </a:solidFill>
              </a:defRPr>
            </a:pPr>
            <a:r>
              <a:t>SYSTEM SCOPE MATRIX</a:t>
            </a:r>
          </a:p>
          <a:p>
            <a:pPr>
              <a:spcBef>
                <a:spcPts val="600"/>
              </a:spcBef>
              <a:defRPr sz="1000">
                <a:solidFill>
                  <a:srgbClr val="F8FAFC"/>
                </a:solidFill>
              </a:defRPr>
            </a:pPr>
            <a:r>
              <a:t>In Scope: English educational lecture transcripts, polysemous academic vocabulary, NLTK WordNet synsets, configurable context windowing (±5 to ±25 words), multi-factor scoring, empirical benchmark evaluation, and local Flask web dashboard.</a:t>
            </a:r>
          </a:p>
          <a:p>
            <a:pPr>
              <a:spcBef>
                <a:spcPts val="600"/>
              </a:spcBef>
              <a:defRPr sz="1000">
                <a:solidFill>
                  <a:srgbClr val="F8FAFC"/>
                </a:solidFill>
              </a:defRPr>
            </a:pPr>
            <a:r>
              <a:t>Input Format: Plain text transcript excerpt + target ambiguous word string + window size integer.</a:t>
            </a:r>
          </a:p>
          <a:p>
            <a:pPr>
              <a:spcBef>
                <a:spcPts val="600"/>
              </a:spcBef>
              <a:defRPr sz="1000">
                <a:solidFill>
                  <a:srgbClr val="F8FAFC"/>
                </a:solidFill>
              </a:defRPr>
            </a:pPr>
            <a:r>
              <a:t>Output Format: Predicted WordNet synset name, gloss definition, POS tag, candidate score table, relative confidence %, and matched evidence token breakdown.</a:t>
            </a:r>
          </a:p>
          <a:p>
            <a:pPr>
              <a:spcBef>
                <a:spcPts val="600"/>
              </a:spcBef>
              <a:defRPr sz="1000">
                <a:solidFill>
                  <a:srgbClr val="F8FAFC"/>
                </a:solidFill>
              </a:defRPr>
            </a:pPr>
            <a:r>
              <a:t>Core Restriction: Strictly no external LLM APIs (OpenAI/Gemini). Pure algorithmic NLTK &amp; WordNet implementation.</a:t>
            </a:r>
          </a:p>
        </p:txBody>
      </p:sp>
      <p:sp>
        <p:nvSpPr>
          <p:cNvPr id="6" name="Rounded Rectangle 5"/>
          <p:cNvSpPr/>
          <p:nvPr/>
        </p:nvSpPr>
        <p:spPr>
          <a:xfrm>
            <a:off x="731520" y="4480560"/>
            <a:ext cx="5212080"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72000"/>
            <a:ext cx="4846320" cy="1645920"/>
          </a:xfrm>
          <a:prstGeom prst="rect">
            <a:avLst/>
          </a:prstGeom>
          <a:noFill/>
        </p:spPr>
        <p:txBody>
          <a:bodyPr wrap="square">
            <a:spAutoFit/>
          </a:bodyPr>
          <a:lstStyle/>
          <a:p>
            <a:pPr>
              <a:defRPr sz="1200" b="1">
                <a:solidFill>
                  <a:srgbClr val="F59E0B"/>
                </a:solidFill>
              </a:defRPr>
            </a:pPr>
            <a:r>
              <a:t>CURRENT SYSTEM LIMITATIONS</a:t>
            </a:r>
          </a:p>
          <a:p>
            <a:pPr>
              <a:spcBef>
                <a:spcPts val="300"/>
              </a:spcBef>
              <a:defRPr sz="950">
                <a:solidFill>
                  <a:srgbClr val="F8FAFC"/>
                </a:solidFill>
              </a:defRPr>
            </a:pPr>
            <a:r>
              <a:t>• Limited to English language vocabulary present in WordNet.</a:t>
            </a:r>
          </a:p>
          <a:p>
            <a:pPr>
              <a:spcBef>
                <a:spcPts val="300"/>
              </a:spcBef>
              <a:defRPr sz="950">
                <a:solidFill>
                  <a:srgbClr val="F8FAFC"/>
                </a:solidFill>
              </a:defRPr>
            </a:pPr>
            <a:r>
              <a:t>• Relies on textual overlap; sparse glosses can yield 0 direct matches.</a:t>
            </a:r>
          </a:p>
          <a:p>
            <a:pPr>
              <a:spcBef>
                <a:spcPts val="300"/>
              </a:spcBef>
              <a:defRPr sz="950">
                <a:solidFill>
                  <a:srgbClr val="F8FAFC"/>
                </a:solidFill>
              </a:defRPr>
            </a:pPr>
            <a:r>
              <a:t>• Sensitive to POS tagger accuracy on unpunctuated transcripts.</a:t>
            </a:r>
          </a:p>
        </p:txBody>
      </p:sp>
      <p:sp>
        <p:nvSpPr>
          <p:cNvPr id="8" name="Rounded Rectangle 7"/>
          <p:cNvSpPr/>
          <p:nvPr/>
        </p:nvSpPr>
        <p:spPr>
          <a:xfrm>
            <a:off x="6248095" y="4480560"/>
            <a:ext cx="5212080"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0975" y="4572000"/>
            <a:ext cx="4846320" cy="1645920"/>
          </a:xfrm>
          <a:prstGeom prst="rect">
            <a:avLst/>
          </a:prstGeom>
          <a:noFill/>
        </p:spPr>
        <p:txBody>
          <a:bodyPr wrap="square">
            <a:spAutoFit/>
          </a:bodyPr>
          <a:lstStyle/>
          <a:p>
            <a:pPr>
              <a:defRPr sz="1200" b="1">
                <a:solidFill>
                  <a:srgbClr val="10B981"/>
                </a:solidFill>
              </a:defRPr>
            </a:pPr>
            <a:r>
              <a:t>FUTURE SYSTEM EXPANSION</a:t>
            </a:r>
          </a:p>
          <a:p>
            <a:pPr>
              <a:spcBef>
                <a:spcPts val="300"/>
              </a:spcBef>
              <a:defRPr sz="950">
                <a:solidFill>
                  <a:srgbClr val="F8FAFC"/>
                </a:solidFill>
              </a:defRPr>
            </a:pPr>
            <a:r>
              <a:t>• Integration with Transformer embeddings (BERT/SBERT) for dense similarity.</a:t>
            </a:r>
          </a:p>
          <a:p>
            <a:pPr>
              <a:spcBef>
                <a:spcPts val="300"/>
              </a:spcBef>
              <a:defRPr sz="950">
                <a:solidFill>
                  <a:srgbClr val="F8FAFC"/>
                </a:solidFill>
              </a:defRPr>
            </a:pPr>
            <a:r>
              <a:t>• Domain-specific educational taxonomy &amp; lecture topic priors.</a:t>
            </a:r>
          </a:p>
          <a:p>
            <a:pPr>
              <a:spcBef>
                <a:spcPts val="300"/>
              </a:spcBef>
              <a:defRPr sz="950">
                <a:solidFill>
                  <a:srgbClr val="F8FAFC"/>
                </a:solidFill>
              </a:defRPr>
            </a:pPr>
            <a:r>
              <a:t>• Real-time speech-to-text integration with live lecture audio streams.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Survey of Existing WSD Approaches &amp; Related Work</a:t>
            </a:r>
          </a:p>
        </p:txBody>
      </p:sp>
      <p:sp>
        <p:nvSpPr>
          <p:cNvPr id="4" name="Rounded Rectangle 3"/>
          <p:cNvSpPr/>
          <p:nvPr/>
        </p:nvSpPr>
        <p:spPr>
          <a:xfrm>
            <a:off x="731520" y="1371600"/>
            <a:ext cx="107286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2895" cy="4480560"/>
          </a:xfrm>
          <a:prstGeom prst="rect">
            <a:avLst/>
          </a:prstGeom>
          <a:noFill/>
        </p:spPr>
        <p:txBody>
          <a:bodyPr wrap="square">
            <a:spAutoFit/>
          </a:bodyPr>
          <a:lstStyle/>
          <a:p>
            <a:pPr>
              <a:defRPr sz="1300" b="1">
                <a:solidFill>
                  <a:srgbClr val="00F2FE"/>
                </a:solidFill>
              </a:defRPr>
            </a:pPr>
            <a:r>
              <a:t>COMPARATIVE SURVEY OF NLP WSD PARADIGMS</a:t>
            </a:r>
          </a:p>
        </p:txBody>
      </p:sp>
      <p:graphicFrame>
        <p:nvGraphicFramePr>
          <p:cNvPr id="6" name="Table 5"/>
          <p:cNvGraphicFramePr>
            <a:graphicFrameLocks noGrp="1"/>
          </p:cNvGraphicFramePr>
          <p:nvPr/>
        </p:nvGraphicFramePr>
        <p:xfrm>
          <a:off x="914400" y="2011680"/>
          <a:ext cx="10362895" cy="3931920"/>
        </p:xfrm>
        <a:graphic>
          <a:graphicData uri="http://schemas.openxmlformats.org/drawingml/2006/table">
            <a:tbl>
              <a:tblPr firstRow="1" bandRow="1">
                <a:tableStyleId>{5C22544A-7EE6-4342-B048-85BDC9FD1C3A}</a:tableStyleId>
              </a:tblPr>
              <a:tblGrid>
                <a:gridCol w="2590723"/>
                <a:gridCol w="2590723"/>
                <a:gridCol w="2590723"/>
                <a:gridCol w="2590726"/>
              </a:tblGrid>
              <a:tr h="655320">
                <a:tc>
                  <a:txBody>
                    <a:bodyPr/>
                    <a:lstStyle/>
                    <a:p>
                      <a:pPr>
                        <a:defRPr sz="1000" b="1">
                          <a:solidFill>
                            <a:srgbClr val="00F2FE"/>
                          </a:solidFill>
                        </a:defRPr>
                      </a:pPr>
                      <a:r>
                        <a:t>WSD Approach</a:t>
                      </a:r>
                    </a:p>
                  </a:txBody>
                  <a:tcPr>
                    <a:solidFill>
                      <a:srgbClr val="1E293B"/>
                    </a:solidFill>
                  </a:tcPr>
                </a:tc>
                <a:tc>
                  <a:txBody>
                    <a:bodyPr/>
                    <a:lstStyle/>
                    <a:p>
                      <a:pPr>
                        <a:defRPr sz="1000" b="1">
                          <a:solidFill>
                            <a:srgbClr val="00F2FE"/>
                          </a:solidFill>
                        </a:defRPr>
                      </a:pPr>
                      <a:r>
                        <a:t>Basic Operational Idea</a:t>
                      </a:r>
                    </a:p>
                  </a:txBody>
                  <a:tcPr>
                    <a:solidFill>
                      <a:srgbClr val="1E293B"/>
                    </a:solidFill>
                  </a:tcPr>
                </a:tc>
                <a:tc>
                  <a:txBody>
                    <a:bodyPr/>
                    <a:lstStyle/>
                    <a:p>
                      <a:pPr>
                        <a:defRPr sz="1000" b="1">
                          <a:solidFill>
                            <a:srgbClr val="00F2FE"/>
                          </a:solidFill>
                        </a:defRPr>
                      </a:pPr>
                      <a:r>
                        <a:t>Key Advantage</a:t>
                      </a:r>
                    </a:p>
                  </a:txBody>
                  <a:tcPr>
                    <a:solidFill>
                      <a:srgbClr val="1E293B"/>
                    </a:solidFill>
                  </a:tcPr>
                </a:tc>
                <a:tc>
                  <a:txBody>
                    <a:bodyPr/>
                    <a:lstStyle/>
                    <a:p>
                      <a:pPr>
                        <a:defRPr sz="1000" b="1">
                          <a:solidFill>
                            <a:srgbClr val="00F2FE"/>
                          </a:solidFill>
                        </a:defRPr>
                      </a:pPr>
                      <a:r>
                        <a:t>Primary Limitation</a:t>
                      </a:r>
                    </a:p>
                  </a:txBody>
                  <a:tcPr>
                    <a:solidFill>
                      <a:srgbClr val="1E293B"/>
                    </a:solidFill>
                  </a:tcPr>
                </a:tc>
              </a:tr>
              <a:tr h="655320">
                <a:tc>
                  <a:txBody>
                    <a:bodyPr/>
                    <a:lstStyle/>
                    <a:p>
                      <a:pPr>
                        <a:defRPr sz="900">
                          <a:solidFill>
                            <a:srgbClr val="F8FAFC"/>
                          </a:solidFill>
                        </a:defRPr>
                      </a:pPr>
                      <a:r>
                        <a:t>Original Lesk (1986)</a:t>
                      </a:r>
                    </a:p>
                  </a:txBody>
                  <a:tcPr>
                    <a:solidFill>
                      <a:srgbClr val="141E30"/>
                    </a:solidFill>
                  </a:tcPr>
                </a:tc>
                <a:tc>
                  <a:txBody>
                    <a:bodyPr/>
                    <a:lstStyle/>
                    <a:p>
                      <a:pPr>
                        <a:defRPr sz="900">
                          <a:solidFill>
                            <a:srgbClr val="F8FAFC"/>
                          </a:solidFill>
                        </a:defRPr>
                      </a:pPr>
                      <a:r>
                        <a:t>Counts raw word overlaps between context and dictionary definitions.</a:t>
                      </a:r>
                    </a:p>
                  </a:txBody>
                  <a:tcPr>
                    <a:solidFill>
                      <a:srgbClr val="141E30"/>
                    </a:solidFill>
                  </a:tcPr>
                </a:tc>
                <a:tc>
                  <a:txBody>
                    <a:bodyPr/>
                    <a:lstStyle/>
                    <a:p>
                      <a:pPr>
                        <a:defRPr sz="900">
                          <a:solidFill>
                            <a:srgbClr val="F8FAFC"/>
                          </a:solidFill>
                        </a:defRPr>
                      </a:pPr>
                      <a:r>
                        <a:t>Fully unsupervised; requires no trained model.</a:t>
                      </a:r>
                    </a:p>
                  </a:txBody>
                  <a:tcPr>
                    <a:solidFill>
                      <a:srgbClr val="141E30"/>
                    </a:solidFill>
                  </a:tcPr>
                </a:tc>
                <a:tc>
                  <a:txBody>
                    <a:bodyPr/>
                    <a:lstStyle/>
                    <a:p>
                      <a:pPr>
                        <a:defRPr sz="900">
                          <a:solidFill>
                            <a:srgbClr val="F8FAFC"/>
                          </a:solidFill>
                        </a:defRPr>
                      </a:pPr>
                      <a:r>
                        <a:t>Extremely combinatorial; sparse direct overlap.</a:t>
                      </a:r>
                    </a:p>
                  </a:txBody>
                  <a:tcPr>
                    <a:solidFill>
                      <a:srgbClr val="141E30"/>
                    </a:solidFill>
                  </a:tcPr>
                </a:tc>
              </a:tr>
              <a:tr h="655320">
                <a:tc>
                  <a:txBody>
                    <a:bodyPr/>
                    <a:lstStyle/>
                    <a:p>
                      <a:pPr>
                        <a:defRPr sz="900">
                          <a:solidFill>
                            <a:srgbClr val="F8FAFC"/>
                          </a:solidFill>
                        </a:defRPr>
                      </a:pPr>
                      <a:r>
                        <a:t>Simplified Lesk (NLTK)</a:t>
                      </a:r>
                    </a:p>
                  </a:txBody>
                  <a:tcPr>
                    <a:solidFill>
                      <a:srgbClr val="1E293B"/>
                    </a:solidFill>
                  </a:tcPr>
                </a:tc>
                <a:tc>
                  <a:txBody>
                    <a:bodyPr/>
                    <a:lstStyle/>
                    <a:p>
                      <a:pPr>
                        <a:defRPr sz="900">
                          <a:solidFill>
                            <a:srgbClr val="F8FAFC"/>
                          </a:solidFill>
                        </a:defRPr>
                      </a:pPr>
                      <a:r>
                        <a:t>Compares context against individual candidate sense glosses.</a:t>
                      </a:r>
                    </a:p>
                  </a:txBody>
                  <a:tcPr>
                    <a:solidFill>
                      <a:srgbClr val="1E293B"/>
                    </a:solidFill>
                  </a:tcPr>
                </a:tc>
                <a:tc>
                  <a:txBody>
                    <a:bodyPr/>
                    <a:lstStyle/>
                    <a:p>
                      <a:pPr>
                        <a:defRPr sz="900">
                          <a:solidFill>
                            <a:srgbClr val="F8FAFC"/>
                          </a:solidFill>
                        </a:defRPr>
                      </a:pPr>
                      <a:r>
                        <a:t>Computationally efficient; standard baseline.</a:t>
                      </a:r>
                    </a:p>
                  </a:txBody>
                  <a:tcPr>
                    <a:solidFill>
                      <a:srgbClr val="1E293B"/>
                    </a:solidFill>
                  </a:tcPr>
                </a:tc>
                <a:tc>
                  <a:txBody>
                    <a:bodyPr/>
                    <a:lstStyle/>
                    <a:p>
                      <a:pPr>
                        <a:defRPr sz="900">
                          <a:solidFill>
                            <a:srgbClr val="F8FAFC"/>
                          </a:solidFill>
                        </a:defRPr>
                      </a:pPr>
                      <a:r>
                        <a:t>Ignored synonyms and domain hierarchy; zero-match tie.</a:t>
                      </a:r>
                    </a:p>
                  </a:txBody>
                  <a:tcPr>
                    <a:solidFill>
                      <a:srgbClr val="1E293B"/>
                    </a:solidFill>
                  </a:tcPr>
                </a:tc>
              </a:tr>
              <a:tr h="655320">
                <a:tc>
                  <a:txBody>
                    <a:bodyPr/>
                    <a:lstStyle/>
                    <a:p>
                      <a:pPr>
                        <a:defRPr sz="900">
                          <a:solidFill>
                            <a:srgbClr val="F8FAFC"/>
                          </a:solidFill>
                        </a:defRPr>
                      </a:pPr>
                      <a:r>
                        <a:t>Supervised WSD</a:t>
                      </a:r>
                    </a:p>
                  </a:txBody>
                  <a:tcPr>
                    <a:solidFill>
                      <a:srgbClr val="141E30"/>
                    </a:solidFill>
                  </a:tcPr>
                </a:tc>
                <a:tc>
                  <a:txBody>
                    <a:bodyPr/>
                    <a:lstStyle/>
                    <a:p>
                      <a:pPr>
                        <a:defRPr sz="900">
                          <a:solidFill>
                            <a:srgbClr val="F8FAFC"/>
                          </a:solidFill>
                        </a:defRPr>
                      </a:pPr>
                      <a:r>
                        <a:t>Trains classifiers (SVM/RF) on sense-tagged corpora (SemCor).</a:t>
                      </a:r>
                    </a:p>
                  </a:txBody>
                  <a:tcPr>
                    <a:solidFill>
                      <a:srgbClr val="141E30"/>
                    </a:solidFill>
                  </a:tcPr>
                </a:tc>
                <a:tc>
                  <a:txBody>
                    <a:bodyPr/>
                    <a:lstStyle/>
                    <a:p>
                      <a:pPr>
                        <a:defRPr sz="900">
                          <a:solidFill>
                            <a:srgbClr val="F8FAFC"/>
                          </a:solidFill>
                        </a:defRPr>
                      </a:pPr>
                      <a:r>
                        <a:t>High accuracy on frequent words.</a:t>
                      </a:r>
                    </a:p>
                  </a:txBody>
                  <a:tcPr>
                    <a:solidFill>
                      <a:srgbClr val="141E30"/>
                    </a:solidFill>
                  </a:tcPr>
                </a:tc>
                <a:tc>
                  <a:txBody>
                    <a:bodyPr/>
                    <a:lstStyle/>
                    <a:p>
                      <a:pPr>
                        <a:defRPr sz="900">
                          <a:solidFill>
                            <a:srgbClr val="F8FAFC"/>
                          </a:solidFill>
                        </a:defRPr>
                      </a:pPr>
                      <a:r>
                        <a:t>Requires massive manually annotated training data.</a:t>
                      </a:r>
                    </a:p>
                  </a:txBody>
                  <a:tcPr>
                    <a:solidFill>
                      <a:srgbClr val="141E30"/>
                    </a:solidFill>
                  </a:tcPr>
                </a:tc>
              </a:tr>
              <a:tr h="655320">
                <a:tc>
                  <a:txBody>
                    <a:bodyPr/>
                    <a:lstStyle/>
                    <a:p>
                      <a:pPr>
                        <a:defRPr sz="900">
                          <a:solidFill>
                            <a:srgbClr val="10B981"/>
                          </a:solidFill>
                        </a:defRPr>
                      </a:pPr>
                      <a:r>
                        <a:t>EduSense (Our Solution)</a:t>
                      </a:r>
                    </a:p>
                  </a:txBody>
                  <a:tcPr>
                    <a:solidFill>
                      <a:srgbClr val="1E293B"/>
                    </a:solidFill>
                  </a:tcPr>
                </a:tc>
                <a:tc>
                  <a:txBody>
                    <a:bodyPr/>
                    <a:lstStyle/>
                    <a:p>
                      <a:pPr>
                        <a:defRPr sz="900">
                          <a:solidFill>
                            <a:srgbClr val="F8FAFC"/>
                          </a:solidFill>
                        </a:defRPr>
                      </a:pPr>
                      <a:r>
                        <a:t>Weighted multi-factor overlap + Thesaurus expansion + POS filtering.</a:t>
                      </a:r>
                    </a:p>
                  </a:txBody>
                  <a:tcPr>
                    <a:solidFill>
                      <a:srgbClr val="1E293B"/>
                    </a:solidFill>
                  </a:tcPr>
                </a:tc>
                <a:tc>
                  <a:txBody>
                    <a:bodyPr/>
                    <a:lstStyle/>
                    <a:p>
                      <a:pPr>
                        <a:defRPr sz="900">
                          <a:solidFill>
                            <a:srgbClr val="F8FAFC"/>
                          </a:solidFill>
                        </a:defRPr>
                      </a:pPr>
                      <a:r>
                        <a:t>100% Explainable; +16% accuracy over Lesk baseline.</a:t>
                      </a:r>
                    </a:p>
                  </a:txBody>
                  <a:tcPr>
                    <a:solidFill>
                      <a:srgbClr val="1E293B"/>
                    </a:solidFill>
                  </a:tcPr>
                </a:tc>
                <a:tc>
                  <a:txBody>
                    <a:bodyPr/>
                    <a:lstStyle/>
                    <a:p>
                      <a:pPr>
                        <a:defRPr sz="900">
                          <a:solidFill>
                            <a:srgbClr val="F8FAFC"/>
                          </a:solidFill>
                        </a:defRPr>
                      </a:pPr>
                      <a:r>
                        <a:t>Bounded by WordNet lexical coverage.</a:t>
                      </a:r>
                    </a:p>
                  </a:txBody>
                  <a:tcPr>
                    <a:solidFill>
                      <a:srgbClr val="1E293B"/>
                    </a:solidFill>
                  </a:tcPr>
                </a:tc>
              </a:tr>
              <a:tr h="655320">
                <a:tc>
                  <a:txBody>
                    <a:bodyPr/>
                    <a:lstStyle/>
                    <a:p>
                      <a:pPr>
                        <a:defRPr sz="900">
                          <a:solidFill>
                            <a:srgbClr val="F8FAFC"/>
                          </a:solidFill>
                        </a:defRPr>
                      </a:pPr>
                      <a:r>
                        <a:t>Transformer WSD (BERT)</a:t>
                      </a:r>
                    </a:p>
                  </a:txBody>
                  <a:tcPr>
                    <a:solidFill>
                      <a:srgbClr val="141E30"/>
                    </a:solidFill>
                  </a:tcPr>
                </a:tc>
                <a:tc>
                  <a:txBody>
                    <a:bodyPr/>
                    <a:lstStyle/>
                    <a:p>
                      <a:pPr>
                        <a:defRPr sz="900">
                          <a:solidFill>
                            <a:srgbClr val="F8FAFC"/>
                          </a:solidFill>
                        </a:defRPr>
                      </a:pPr>
                      <a:r>
                        <a:t>Uses bi-directional contextual embeddings and cosine similarity.</a:t>
                      </a:r>
                    </a:p>
                  </a:txBody>
                  <a:tcPr>
                    <a:solidFill>
                      <a:srgbClr val="141E30"/>
                    </a:solidFill>
                  </a:tcPr>
                </a:tc>
                <a:tc>
                  <a:txBody>
                    <a:bodyPr/>
                    <a:lstStyle/>
                    <a:p>
                      <a:pPr>
                        <a:defRPr sz="900">
                          <a:solidFill>
                            <a:srgbClr val="F8FAFC"/>
                          </a:solidFill>
                        </a:defRPr>
                      </a:pPr>
                      <a:r>
                        <a:t>State-of-the-art context representation.</a:t>
                      </a:r>
                    </a:p>
                  </a:txBody>
                  <a:tcPr>
                    <a:solidFill>
                      <a:srgbClr val="141E30"/>
                    </a:solidFill>
                  </a:tcPr>
                </a:tc>
                <a:tc>
                  <a:txBody>
                    <a:bodyPr/>
                    <a:lstStyle/>
                    <a:p>
                      <a:pPr>
                        <a:defRPr sz="900">
                          <a:solidFill>
                            <a:srgbClr val="F8FAFC"/>
                          </a:solidFill>
                        </a:defRPr>
                      </a:pPr>
                      <a:r>
                        <a:t>Black-box complexity; high compute requirement.</a:t>
                      </a:r>
                    </a:p>
                  </a:txBody>
                  <a:tcPr>
                    <a:solidFill>
                      <a:srgbClr val="141E30"/>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Academic Research References &amp; Technical Distinction</a:t>
            </a:r>
          </a:p>
        </p:txBody>
      </p:sp>
      <p:sp>
        <p:nvSpPr>
          <p:cNvPr id="4" name="Rounded Rectangle 3"/>
          <p:cNvSpPr/>
          <p:nvPr/>
        </p:nvSpPr>
        <p:spPr>
          <a:xfrm>
            <a:off x="731520" y="1371600"/>
            <a:ext cx="621792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5852160" cy="4480560"/>
          </a:xfrm>
          <a:prstGeom prst="rect">
            <a:avLst/>
          </a:prstGeom>
          <a:noFill/>
        </p:spPr>
        <p:txBody>
          <a:bodyPr wrap="square">
            <a:spAutoFit/>
          </a:bodyPr>
          <a:lstStyle/>
          <a:p>
            <a:pPr>
              <a:defRPr sz="1300" b="1">
                <a:solidFill>
                  <a:srgbClr val="00F2FE"/>
                </a:solidFill>
              </a:defRPr>
            </a:pPr>
            <a:r>
              <a:t>VERIFIED ACADEMIC RESEARCH REFERENCES</a:t>
            </a:r>
          </a:p>
          <a:p>
            <a:pPr>
              <a:spcBef>
                <a:spcPts val="600"/>
              </a:spcBef>
              <a:defRPr sz="950">
                <a:solidFill>
                  <a:srgbClr val="F8FAFC"/>
                </a:solidFill>
              </a:defRPr>
            </a:pPr>
            <a:r>
              <a:t>1. Lesk, M. (1986). Automatic sense disambiguation using machine readable dictionaries. Proceedings of ACM SIGDOC. DOI: 10.1145/318723.318728</a:t>
            </a:r>
          </a:p>
          <a:p>
            <a:pPr>
              <a:spcBef>
                <a:spcPts val="100"/>
              </a:spcBef>
              <a:defRPr sz="900">
                <a:solidFill>
                  <a:srgbClr val="38BDF8"/>
                </a:solidFill>
              </a:defRPr>
            </a:pPr>
            <a:r>
              <a:t>   → Relevance: Foundation of dictionary overlap WSD.</a:t>
            </a:r>
          </a:p>
          <a:p>
            <a:pPr>
              <a:spcBef>
                <a:spcPts val="600"/>
              </a:spcBef>
              <a:defRPr sz="950">
                <a:solidFill>
                  <a:srgbClr val="F8FAFC"/>
                </a:solidFill>
              </a:defRPr>
            </a:pPr>
            <a:r>
              <a:t>2. Miller, G. A. (1995). WordNet: A lexical database for English. Communications of the ACM, 38(11), 39-41.</a:t>
            </a:r>
          </a:p>
          <a:p>
            <a:pPr>
              <a:spcBef>
                <a:spcPts val="100"/>
              </a:spcBef>
              <a:defRPr sz="900">
                <a:solidFill>
                  <a:srgbClr val="38BDF8"/>
                </a:solidFill>
              </a:defRPr>
            </a:pPr>
            <a:r>
              <a:t>   → Relevance: Primary lexical knowledge base source.</a:t>
            </a:r>
          </a:p>
          <a:p>
            <a:pPr>
              <a:spcBef>
                <a:spcPts val="600"/>
              </a:spcBef>
              <a:defRPr sz="950">
                <a:solidFill>
                  <a:srgbClr val="F8FAFC"/>
                </a:solidFill>
              </a:defRPr>
            </a:pPr>
            <a:r>
              <a:t>3. Banerjee, S., &amp; Pedersen, T. (2002). An adapted Lesk algorithm for word sense disambiguation using WordNet. CICLing.</a:t>
            </a:r>
          </a:p>
          <a:p>
            <a:pPr>
              <a:spcBef>
                <a:spcPts val="100"/>
              </a:spcBef>
              <a:defRPr sz="900">
                <a:solidFill>
                  <a:srgbClr val="38BDF8"/>
                </a:solidFill>
              </a:defRPr>
            </a:pPr>
            <a:r>
              <a:t>   → Relevance: Extended overlap concept using WordNet relations.</a:t>
            </a:r>
          </a:p>
          <a:p>
            <a:pPr>
              <a:spcBef>
                <a:spcPts val="600"/>
              </a:spcBef>
              <a:defRPr sz="950">
                <a:solidFill>
                  <a:srgbClr val="F8FAFC"/>
                </a:solidFill>
              </a:defRPr>
            </a:pPr>
            <a:r>
              <a:t>4. Jurafsky, D., &amp; Martin, J. H. (2023). Speech and Language Processing (3rd ed. draft). Chapter 18: Word Senses and WSD.</a:t>
            </a:r>
          </a:p>
          <a:p>
            <a:pPr>
              <a:spcBef>
                <a:spcPts val="100"/>
              </a:spcBef>
              <a:defRPr sz="900">
                <a:solidFill>
                  <a:srgbClr val="38BDF8"/>
                </a:solidFill>
              </a:defRPr>
            </a:pPr>
            <a:r>
              <a:t>   → Relevance: Standard NLP curriculum formulation.</a:t>
            </a:r>
          </a:p>
        </p:txBody>
      </p:sp>
      <p:sp>
        <p:nvSpPr>
          <p:cNvPr id="6" name="Rounded Rectangle 5"/>
          <p:cNvSpPr/>
          <p:nvPr/>
        </p:nvSpPr>
        <p:spPr>
          <a:xfrm>
            <a:off x="7132320" y="1371600"/>
            <a:ext cx="43278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554480"/>
            <a:ext cx="3962095" cy="4480560"/>
          </a:xfrm>
          <a:prstGeom prst="rect">
            <a:avLst/>
          </a:prstGeom>
          <a:noFill/>
        </p:spPr>
        <p:txBody>
          <a:bodyPr wrap="square">
            <a:spAutoFit/>
          </a:bodyPr>
          <a:lstStyle/>
          <a:p>
            <a:pPr>
              <a:defRPr sz="1300" b="1">
                <a:solidFill>
                  <a:srgbClr val="10B981"/>
                </a:solidFill>
              </a:defRPr>
            </a:pPr>
            <a:r>
              <a:t>HOW OUR APPROACH DIFFERS</a:t>
            </a:r>
          </a:p>
          <a:p>
            <a:pPr>
              <a:spcBef>
                <a:spcPts val="800"/>
              </a:spcBef>
              <a:defRPr sz="950">
                <a:solidFill>
                  <a:srgbClr val="F8FAFC"/>
                </a:solidFill>
              </a:defRPr>
            </a:pPr>
            <a:r>
              <a:t>• Thesaurus Synonym Expansion: Expands context lemmas using WordNet synonyms to resolve vocabulary mismatches.</a:t>
            </a:r>
          </a:p>
          <a:p>
            <a:pPr>
              <a:spcBef>
                <a:spcPts val="800"/>
              </a:spcBef>
              <a:defRPr sz="950">
                <a:solidFill>
                  <a:srgbClr val="F8FAFC"/>
                </a:solidFill>
              </a:defRPr>
            </a:pPr>
            <a:r>
              <a:t>• Multi-Factor Weighting: Distinguishes direct exact matches (1.5), lemma matches (1.2), example matches (1.0), synonym matches (0.7), and hypernym matches (0.5).</a:t>
            </a:r>
          </a:p>
          <a:p>
            <a:pPr>
              <a:spcBef>
                <a:spcPts val="800"/>
              </a:spcBef>
              <a:defRPr sz="950">
                <a:solidFill>
                  <a:srgbClr val="F8FAFC"/>
                </a:solidFill>
              </a:defRPr>
            </a:pPr>
            <a:r>
              <a:t>• POS-Guided Filtering: Uses Penn Treebank POS tagging to restrict candidate search space.</a:t>
            </a:r>
          </a:p>
          <a:p>
            <a:pPr>
              <a:spcBef>
                <a:spcPts val="800"/>
              </a:spcBef>
              <a:defRPr sz="950">
                <a:solidFill>
                  <a:srgbClr val="F8FAFC"/>
                </a:solidFill>
              </a:defRPr>
            </a:pPr>
            <a:r>
              <a:t>• Target Self-Match Exclusion: Prevents target word self-matching bias.</a:t>
            </a:r>
          </a:p>
          <a:p>
            <a:pPr>
              <a:spcBef>
                <a:spcPts val="800"/>
              </a:spcBef>
              <a:defRPr sz="950">
                <a:solidFill>
                  <a:srgbClr val="F8FAFC"/>
                </a:solidFill>
              </a:defRPr>
            </a:pPr>
            <a:r>
              <a:t>• Relative Confidence Metric: Computes top score ratio over total candidate score sum.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EduSense Proposed System Architecture &amp; Module Pipeline</a:t>
            </a:r>
          </a:p>
        </p:txBody>
      </p:sp>
      <p:sp>
        <p:nvSpPr>
          <p:cNvPr id="4" name="Rounded Rectangle 3"/>
          <p:cNvSpPr/>
          <p:nvPr/>
        </p:nvSpPr>
        <p:spPr>
          <a:xfrm>
            <a:off x="731520" y="1371600"/>
            <a:ext cx="107286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2895" cy="4480560"/>
          </a:xfrm>
          <a:prstGeom prst="rect">
            <a:avLst/>
          </a:prstGeom>
          <a:noFill/>
        </p:spPr>
        <p:txBody>
          <a:bodyPr wrap="square">
            <a:spAutoFit/>
          </a:bodyPr>
          <a:lstStyle/>
          <a:p>
            <a:pPr>
              <a:defRPr sz="1300" b="1">
                <a:solidFill>
                  <a:srgbClr val="00F2FE"/>
                </a:solidFill>
              </a:defRPr>
            </a:pPr>
            <a:r>
              <a:t>MODULAR SYSTEM ARCHITECTURE &amp; DATA FLOW</a:t>
            </a:r>
          </a:p>
          <a:p>
            <a:pPr>
              <a:spcBef>
                <a:spcPts val="800"/>
              </a:spcBef>
              <a:defRPr sz="1100" b="1">
                <a:solidFill>
                  <a:srgbClr val="38BDF8"/>
                </a:solidFill>
              </a:defRPr>
            </a:pPr>
            <a:r>
              <a:t>1. Input Handler &amp; Context Extractor (src/context_extractor.py)</a:t>
            </a:r>
          </a:p>
          <a:p>
            <a:pPr>
              <a:spcBef>
                <a:spcPts val="100"/>
              </a:spcBef>
              <a:defRPr sz="950">
                <a:solidFill>
                  <a:srgbClr val="F8FAFC"/>
                </a:solidFill>
              </a:defRPr>
            </a:pPr>
            <a:r>
              <a:t>   Accepts transcript string &amp; target word. Extracts ±N window around target occurrence. Highlights target word.</a:t>
            </a:r>
          </a:p>
          <a:p>
            <a:pPr>
              <a:spcBef>
                <a:spcPts val="800"/>
              </a:spcBef>
              <a:defRPr sz="1100" b="1">
                <a:solidFill>
                  <a:srgbClr val="38BDF8"/>
                </a:solidFill>
              </a:defRPr>
            </a:pPr>
            <a:r>
              <a:t>2. Text Preprocessing Pipeline (src/preprocessing.py)</a:t>
            </a:r>
          </a:p>
          <a:p>
            <a:pPr>
              <a:spcBef>
                <a:spcPts val="100"/>
              </a:spcBef>
              <a:defRPr sz="950">
                <a:solidFill>
                  <a:srgbClr val="F8FAFC"/>
                </a:solidFill>
              </a:defRPr>
            </a:pPr>
            <a:r>
              <a:t>   Performs lowercasing, tokenization, stop-word removal, POS tagging, and lemmatization using WordNetLemmatizer.</a:t>
            </a:r>
          </a:p>
          <a:p>
            <a:pPr>
              <a:spcBef>
                <a:spcPts val="800"/>
              </a:spcBef>
              <a:defRPr sz="1100" b="1">
                <a:solidFill>
                  <a:srgbClr val="38BDF8"/>
                </a:solidFill>
              </a:defRPr>
            </a:pPr>
            <a:r>
              <a:t>3. WordNet &amp; Thesaurus Engine (src/wordnet_engine.py)</a:t>
            </a:r>
          </a:p>
          <a:p>
            <a:pPr>
              <a:spcBef>
                <a:spcPts val="100"/>
              </a:spcBef>
              <a:defRPr sz="950">
                <a:solidFill>
                  <a:srgbClr val="F8FAFC"/>
                </a:solidFill>
              </a:defRPr>
            </a:pPr>
            <a:r>
              <a:t>   Fetches candidate synsets, glosses, example sentences, hypernyms, and builds thesaurus synonym expansions.</a:t>
            </a:r>
          </a:p>
          <a:p>
            <a:pPr>
              <a:spcBef>
                <a:spcPts val="800"/>
              </a:spcBef>
              <a:defRPr sz="1100" b="1">
                <a:solidFill>
                  <a:srgbClr val="38BDF8"/>
                </a:solidFill>
              </a:defRPr>
            </a:pPr>
            <a:r>
              <a:t>4. Custom Scoring &amp; Ranking Engine (src/wsd_engine.py)</a:t>
            </a:r>
          </a:p>
          <a:p>
            <a:pPr>
              <a:spcBef>
                <a:spcPts val="100"/>
              </a:spcBef>
              <a:defRPr sz="950">
                <a:solidFill>
                  <a:srgbClr val="F8FAFC"/>
                </a:solidFill>
              </a:defRPr>
            </a:pPr>
            <a:r>
              <a:t>   Calculates weighted multi-factor overlap scores, excludes self-matches, ranks candidate senses, and computes relative confidence.</a:t>
            </a:r>
          </a:p>
          <a:p>
            <a:pPr>
              <a:spcBef>
                <a:spcPts val="800"/>
              </a:spcBef>
              <a:defRPr sz="1100" b="1">
                <a:solidFill>
                  <a:srgbClr val="38BDF8"/>
                </a:solidFill>
              </a:defRPr>
            </a:pPr>
            <a:r>
              <a:t>5. Baseline &amp; Evaluation Engine (src/baseline.py &amp; src/evaluation.py)</a:t>
            </a:r>
          </a:p>
          <a:p>
            <a:pPr>
              <a:spcBef>
                <a:spcPts val="100"/>
              </a:spcBef>
              <a:defRPr sz="950">
                <a:solidFill>
                  <a:srgbClr val="F8FAFC"/>
                </a:solidFill>
              </a:defRPr>
            </a:pPr>
            <a:r>
              <a:t>   Evaluates custom engine against NLTK Simplified Lesk baseline on 25 labeled test transcripts.</a:t>
            </a:r>
          </a:p>
          <a:p>
            <a:pPr>
              <a:spcBef>
                <a:spcPts val="800"/>
              </a:spcBef>
              <a:defRPr sz="1100" b="1">
                <a:solidFill>
                  <a:srgbClr val="38BDF8"/>
                </a:solidFill>
              </a:defRPr>
            </a:pPr>
            <a:r>
              <a:t>6. Flask Web Controller &amp; User Interface (app.py &amp; templates/)</a:t>
            </a:r>
          </a:p>
          <a:p>
            <a:pPr>
              <a:spcBef>
                <a:spcPts val="100"/>
              </a:spcBef>
              <a:defRPr sz="950">
                <a:solidFill>
                  <a:srgbClr val="F8FAFC"/>
                </a:solidFill>
              </a:defRPr>
            </a:pPr>
            <a:r>
              <a:t>   Renders interactive web pages, SVG charts, preprocessing steps, ranking tables, and decision explanation badges.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Work Plan &amp; Milestone Execution Timeline</a:t>
            </a:r>
          </a:p>
        </p:txBody>
      </p:sp>
      <p:sp>
        <p:nvSpPr>
          <p:cNvPr id="4" name="Rounded Rectangle 3"/>
          <p:cNvSpPr/>
          <p:nvPr/>
        </p:nvSpPr>
        <p:spPr>
          <a:xfrm>
            <a:off x="731520" y="1371600"/>
            <a:ext cx="107286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2895" cy="4480560"/>
          </a:xfrm>
          <a:prstGeom prst="rect">
            <a:avLst/>
          </a:prstGeom>
          <a:noFill/>
        </p:spPr>
        <p:txBody>
          <a:bodyPr wrap="square">
            <a:spAutoFit/>
          </a:bodyPr>
          <a:lstStyle/>
          <a:p>
            <a:pPr>
              <a:defRPr sz="1300" b="1">
                <a:solidFill>
                  <a:srgbClr val="00F2FE"/>
                </a:solidFill>
              </a:defRPr>
            </a:pPr>
            <a:r>
              <a:t>STRUCTURED PROJECT EXECUTION PHASES &amp; MILESTONES</a:t>
            </a:r>
          </a:p>
        </p:txBody>
      </p:sp>
      <p:graphicFrame>
        <p:nvGraphicFramePr>
          <p:cNvPr id="6" name="Table 5"/>
          <p:cNvGraphicFramePr>
            <a:graphicFrameLocks noGrp="1"/>
          </p:cNvGraphicFramePr>
          <p:nvPr/>
        </p:nvGraphicFramePr>
        <p:xfrm>
          <a:off x="914400" y="2011680"/>
          <a:ext cx="10362895" cy="3931920"/>
        </p:xfrm>
        <a:graphic>
          <a:graphicData uri="http://schemas.openxmlformats.org/drawingml/2006/table">
            <a:tbl>
              <a:tblPr firstRow="1" bandRow="1">
                <a:tableStyleId>{5C22544A-7EE6-4342-B048-85BDC9FD1C3A}</a:tableStyleId>
              </a:tblPr>
              <a:tblGrid>
                <a:gridCol w="2590723"/>
                <a:gridCol w="2590723"/>
                <a:gridCol w="2590723"/>
                <a:gridCol w="2590726"/>
              </a:tblGrid>
              <a:tr h="655320">
                <a:tc>
                  <a:txBody>
                    <a:bodyPr/>
                    <a:lstStyle/>
                    <a:p>
                      <a:pPr>
                        <a:defRPr sz="1000" b="1">
                          <a:solidFill>
                            <a:srgbClr val="00F2FE"/>
                          </a:solidFill>
                        </a:defRPr>
                      </a:pPr>
                      <a:r>
                        <a:t>Project Phase</a:t>
                      </a:r>
                    </a:p>
                  </a:txBody>
                  <a:tcPr>
                    <a:solidFill>
                      <a:srgbClr val="1E293B"/>
                    </a:solidFill>
                  </a:tcPr>
                </a:tc>
                <a:tc>
                  <a:txBody>
                    <a:bodyPr/>
                    <a:lstStyle/>
                    <a:p>
                      <a:pPr>
                        <a:defRPr sz="1000" b="1">
                          <a:solidFill>
                            <a:srgbClr val="00F2FE"/>
                          </a:solidFill>
                        </a:defRPr>
                      </a:pPr>
                      <a:r>
                        <a:t>Key Deliverables &amp; Tasks</a:t>
                      </a:r>
                    </a:p>
                  </a:txBody>
                  <a:tcPr>
                    <a:solidFill>
                      <a:srgbClr val="1E293B"/>
                    </a:solidFill>
                  </a:tcPr>
                </a:tc>
                <a:tc>
                  <a:txBody>
                    <a:bodyPr/>
                    <a:lstStyle/>
                    <a:p>
                      <a:pPr>
                        <a:defRPr sz="1000" b="1">
                          <a:solidFill>
                            <a:srgbClr val="00F2FE"/>
                          </a:solidFill>
                        </a:defRPr>
                      </a:pPr>
                      <a:r>
                        <a:t>Implementation Artifacts</a:t>
                      </a:r>
                    </a:p>
                  </a:txBody>
                  <a:tcPr>
                    <a:solidFill>
                      <a:srgbClr val="1E293B"/>
                    </a:solidFill>
                  </a:tcPr>
                </a:tc>
                <a:tc>
                  <a:txBody>
                    <a:bodyPr/>
                    <a:lstStyle/>
                    <a:p>
                      <a:pPr>
                        <a:defRPr sz="1000" b="1">
                          <a:solidFill>
                            <a:srgbClr val="00F2FE"/>
                          </a:solidFill>
                        </a:defRPr>
                      </a:pPr>
                      <a:r>
                        <a:t>Status</a:t>
                      </a:r>
                    </a:p>
                  </a:txBody>
                  <a:tcPr>
                    <a:solidFill>
                      <a:srgbClr val="1E293B"/>
                    </a:solidFill>
                  </a:tcPr>
                </a:tc>
              </a:tr>
              <a:tr h="655320">
                <a:tc>
                  <a:txBody>
                    <a:bodyPr/>
                    <a:lstStyle/>
                    <a:p>
                      <a:pPr>
                        <a:defRPr sz="900" b="1">
                          <a:solidFill>
                            <a:srgbClr val="38BDF8"/>
                          </a:solidFill>
                        </a:defRPr>
                      </a:pPr>
                      <a:r>
                        <a:t>Phase 1: Requirements &amp; Corpus Curation</a:t>
                      </a:r>
                    </a:p>
                  </a:txBody>
                  <a:tcPr>
                    <a:solidFill>
                      <a:srgbClr val="141E30"/>
                    </a:solidFill>
                  </a:tcPr>
                </a:tc>
                <a:tc>
                  <a:txBody>
                    <a:bodyPr/>
                    <a:lstStyle/>
                    <a:p>
                      <a:pPr>
                        <a:defRPr sz="900">
                          <a:solidFill>
                            <a:srgbClr val="F8FAFC"/>
                          </a:solidFill>
                        </a:defRPr>
                      </a:pPr>
                      <a:r>
                        <a:t>Formulate Problem 13 specifications; curate 25 educational lecture transcripts across 8 disciplines.</a:t>
                      </a:r>
                    </a:p>
                  </a:txBody>
                  <a:tcPr>
                    <a:solidFill>
                      <a:srgbClr val="141E30"/>
                    </a:solidFill>
                  </a:tcPr>
                </a:tc>
                <a:tc>
                  <a:txBody>
                    <a:bodyPr/>
                    <a:lstStyle/>
                    <a:p>
                      <a:pPr>
                        <a:defRPr sz="900">
                          <a:solidFill>
                            <a:srgbClr val="F8FAFC"/>
                          </a:solidFill>
                        </a:defRPr>
                      </a:pPr>
                      <a:r>
                        <a:t>data/annotated/evaluation_dataset.csv, raw_transcripts/</a:t>
                      </a:r>
                    </a:p>
                  </a:txBody>
                  <a:tcPr>
                    <a:solidFill>
                      <a:srgbClr val="141E30"/>
                    </a:solidFill>
                  </a:tcPr>
                </a:tc>
                <a:tc>
                  <a:txBody>
                    <a:bodyPr/>
                    <a:lstStyle/>
                    <a:p>
                      <a:pPr>
                        <a:defRPr sz="900" b="1">
                          <a:solidFill>
                            <a:srgbClr val="10B981"/>
                          </a:solidFill>
                        </a:defRPr>
                      </a:pPr>
                      <a:r>
                        <a:t>Completed (100%)</a:t>
                      </a:r>
                    </a:p>
                  </a:txBody>
                  <a:tcPr>
                    <a:solidFill>
                      <a:srgbClr val="141E30"/>
                    </a:solidFill>
                  </a:tcPr>
                </a:tc>
              </a:tr>
              <a:tr h="655320">
                <a:tc>
                  <a:txBody>
                    <a:bodyPr/>
                    <a:lstStyle/>
                    <a:p>
                      <a:pPr>
                        <a:defRPr sz="900" b="1">
                          <a:solidFill>
                            <a:srgbClr val="38BDF8"/>
                          </a:solidFill>
                        </a:defRPr>
                      </a:pPr>
                      <a:r>
                        <a:t>Phase 2: Text Preprocessing &amp; WordNet Interface</a:t>
                      </a:r>
                    </a:p>
                  </a:txBody>
                  <a:tcPr>
                    <a:solidFill>
                      <a:srgbClr val="1E293B"/>
                    </a:solidFill>
                  </a:tcPr>
                </a:tc>
                <a:tc>
                  <a:txBody>
                    <a:bodyPr/>
                    <a:lstStyle/>
                    <a:p>
                      <a:pPr>
                        <a:defRPr sz="900">
                          <a:solidFill>
                            <a:srgbClr val="F8FAFC"/>
                          </a:solidFill>
                        </a:defRPr>
                      </a:pPr>
                      <a:r>
                        <a:t>Implement tokenization, stopword removal, Penn Treebank POS tagging, WordNet synset &amp; gloss querying.</a:t>
                      </a:r>
                    </a:p>
                  </a:txBody>
                  <a:tcPr>
                    <a:solidFill>
                      <a:srgbClr val="1E293B"/>
                    </a:solidFill>
                  </a:tcPr>
                </a:tc>
                <a:tc>
                  <a:txBody>
                    <a:bodyPr/>
                    <a:lstStyle/>
                    <a:p>
                      <a:pPr>
                        <a:defRPr sz="900">
                          <a:solidFill>
                            <a:srgbClr val="F8FAFC"/>
                          </a:solidFill>
                        </a:defRPr>
                      </a:pPr>
                      <a:r>
                        <a:t>src/preprocessing.py, src/wordnet_engine.py</a:t>
                      </a:r>
                    </a:p>
                  </a:txBody>
                  <a:tcPr>
                    <a:solidFill>
                      <a:srgbClr val="1E293B"/>
                    </a:solidFill>
                  </a:tcPr>
                </a:tc>
                <a:tc>
                  <a:txBody>
                    <a:bodyPr/>
                    <a:lstStyle/>
                    <a:p>
                      <a:pPr>
                        <a:defRPr sz="900" b="1">
                          <a:solidFill>
                            <a:srgbClr val="10B981"/>
                          </a:solidFill>
                        </a:defRPr>
                      </a:pPr>
                      <a:r>
                        <a:t>Completed (100%)</a:t>
                      </a:r>
                    </a:p>
                  </a:txBody>
                  <a:tcPr>
                    <a:solidFill>
                      <a:srgbClr val="1E293B"/>
                    </a:solidFill>
                  </a:tcPr>
                </a:tc>
              </a:tr>
              <a:tr h="655320">
                <a:tc>
                  <a:txBody>
                    <a:bodyPr/>
                    <a:lstStyle/>
                    <a:p>
                      <a:pPr>
                        <a:defRPr sz="900" b="1">
                          <a:solidFill>
                            <a:srgbClr val="38BDF8"/>
                          </a:solidFill>
                        </a:defRPr>
                      </a:pPr>
                      <a:r>
                        <a:t>Phase 3: Custom WSD Algorithm &amp; Thesaurus Expansion</a:t>
                      </a:r>
                    </a:p>
                  </a:txBody>
                  <a:tcPr>
                    <a:solidFill>
                      <a:srgbClr val="141E30"/>
                    </a:solidFill>
                  </a:tcPr>
                </a:tc>
                <a:tc>
                  <a:txBody>
                    <a:bodyPr/>
                    <a:lstStyle/>
                    <a:p>
                      <a:pPr>
                        <a:defRPr sz="900">
                          <a:solidFill>
                            <a:srgbClr val="F8FAFC"/>
                          </a:solidFill>
                        </a:defRPr>
                      </a:pPr>
                      <a:r>
                        <a:t>Formulate weighted overlap scoring (Direct, Lemma, Example, Synonym, Hypernym) &amp; relative confidence.</a:t>
                      </a:r>
                    </a:p>
                  </a:txBody>
                  <a:tcPr>
                    <a:solidFill>
                      <a:srgbClr val="141E30"/>
                    </a:solidFill>
                  </a:tcPr>
                </a:tc>
                <a:tc>
                  <a:txBody>
                    <a:bodyPr/>
                    <a:lstStyle/>
                    <a:p>
                      <a:pPr>
                        <a:defRPr sz="900">
                          <a:solidFill>
                            <a:srgbClr val="F8FAFC"/>
                          </a:solidFill>
                        </a:defRPr>
                      </a:pPr>
                      <a:r>
                        <a:t>src/wsd_engine.py, src/models.py</a:t>
                      </a:r>
                    </a:p>
                  </a:txBody>
                  <a:tcPr>
                    <a:solidFill>
                      <a:srgbClr val="141E30"/>
                    </a:solidFill>
                  </a:tcPr>
                </a:tc>
                <a:tc>
                  <a:txBody>
                    <a:bodyPr/>
                    <a:lstStyle/>
                    <a:p>
                      <a:pPr>
                        <a:defRPr sz="900" b="1">
                          <a:solidFill>
                            <a:srgbClr val="10B981"/>
                          </a:solidFill>
                        </a:defRPr>
                      </a:pPr>
                      <a:r>
                        <a:t>Completed (100%)</a:t>
                      </a:r>
                    </a:p>
                  </a:txBody>
                  <a:tcPr>
                    <a:solidFill>
                      <a:srgbClr val="141E30"/>
                    </a:solidFill>
                  </a:tcPr>
                </a:tc>
              </a:tr>
              <a:tr h="655320">
                <a:tc>
                  <a:txBody>
                    <a:bodyPr/>
                    <a:lstStyle/>
                    <a:p>
                      <a:pPr>
                        <a:defRPr sz="900" b="1">
                          <a:solidFill>
                            <a:srgbClr val="38BDF8"/>
                          </a:solidFill>
                        </a:defRPr>
                      </a:pPr>
                      <a:r>
                        <a:t>Phase 4: Web Application &amp; Explainable UI</a:t>
                      </a:r>
                    </a:p>
                  </a:txBody>
                  <a:tcPr>
                    <a:solidFill>
                      <a:srgbClr val="1E293B"/>
                    </a:solidFill>
                  </a:tcPr>
                </a:tc>
                <a:tc>
                  <a:txBody>
                    <a:bodyPr/>
                    <a:lstStyle/>
                    <a:p>
                      <a:pPr>
                        <a:defRPr sz="900">
                          <a:solidFill>
                            <a:srgbClr val="F8FAFC"/>
                          </a:solidFill>
                        </a:defRPr>
                      </a:pPr>
                      <a:r>
                        <a:t>Build full Flask application with dark theme, context slider, preloaded presets &amp; XAI evidence badges.</a:t>
                      </a:r>
                    </a:p>
                  </a:txBody>
                  <a:tcPr>
                    <a:solidFill>
                      <a:srgbClr val="1E293B"/>
                    </a:solidFill>
                  </a:tcPr>
                </a:tc>
                <a:tc>
                  <a:txBody>
                    <a:bodyPr/>
                    <a:lstStyle/>
                    <a:p>
                      <a:pPr>
                        <a:defRPr sz="900">
                          <a:solidFill>
                            <a:srgbClr val="F8FAFC"/>
                          </a:solidFill>
                        </a:defRPr>
                      </a:pPr>
                      <a:r>
                        <a:t>app.py, templates/, static/css/, static/js/</a:t>
                      </a:r>
                    </a:p>
                  </a:txBody>
                  <a:tcPr>
                    <a:solidFill>
                      <a:srgbClr val="1E293B"/>
                    </a:solidFill>
                  </a:tcPr>
                </a:tc>
                <a:tc>
                  <a:txBody>
                    <a:bodyPr/>
                    <a:lstStyle/>
                    <a:p>
                      <a:pPr>
                        <a:defRPr sz="900" b="1">
                          <a:solidFill>
                            <a:srgbClr val="10B981"/>
                          </a:solidFill>
                        </a:defRPr>
                      </a:pPr>
                      <a:r>
                        <a:t>Completed (100%)</a:t>
                      </a:r>
                    </a:p>
                  </a:txBody>
                  <a:tcPr>
                    <a:solidFill>
                      <a:srgbClr val="1E293B"/>
                    </a:solidFill>
                  </a:tcPr>
                </a:tc>
              </a:tr>
              <a:tr h="655320">
                <a:tc>
                  <a:txBody>
                    <a:bodyPr/>
                    <a:lstStyle/>
                    <a:p>
                      <a:pPr>
                        <a:defRPr sz="900" b="1">
                          <a:solidFill>
                            <a:srgbClr val="38BDF8"/>
                          </a:solidFill>
                        </a:defRPr>
                      </a:pPr>
                      <a:r>
                        <a:t>Phase 5: Benchmarking, Testing &amp; Cloud Deployment</a:t>
                      </a:r>
                    </a:p>
                  </a:txBody>
                  <a:tcPr>
                    <a:solidFill>
                      <a:srgbClr val="141E30"/>
                    </a:solidFill>
                  </a:tcPr>
                </a:tc>
                <a:tc>
                  <a:txBody>
                    <a:bodyPr/>
                    <a:lstStyle/>
                    <a:p>
                      <a:pPr>
                        <a:defRPr sz="900">
                          <a:solidFill>
                            <a:srgbClr val="F8FAFC"/>
                          </a:solidFill>
                        </a:defRPr>
                      </a:pPr>
                      <a:r>
                        <a:t>Benchmark vs NLTK Lesk baseline (56% vs 40%), 18 unit tests, PDF reports &amp; Render cloud configuration.</a:t>
                      </a:r>
                    </a:p>
                  </a:txBody>
                  <a:tcPr>
                    <a:solidFill>
                      <a:srgbClr val="141E30"/>
                    </a:solidFill>
                  </a:tcPr>
                </a:tc>
                <a:tc>
                  <a:txBody>
                    <a:bodyPr/>
                    <a:lstStyle/>
                    <a:p>
                      <a:pPr>
                        <a:defRPr sz="900">
                          <a:solidFill>
                            <a:srgbClr val="F8FAFC"/>
                          </a:solidFill>
                        </a:defRPr>
                      </a:pPr>
                      <a:r>
                        <a:t>tests/, docs/*.pdf, render.yaml, Procfile</a:t>
                      </a:r>
                    </a:p>
                  </a:txBody>
                  <a:tcPr>
                    <a:solidFill>
                      <a:srgbClr val="141E30"/>
                    </a:solidFill>
                  </a:tcPr>
                </a:tc>
                <a:tc>
                  <a:txBody>
                    <a:bodyPr/>
                    <a:lstStyle/>
                    <a:p>
                      <a:pPr>
                        <a:defRPr sz="900" b="1">
                          <a:solidFill>
                            <a:srgbClr val="10B981"/>
                          </a:solidFill>
                        </a:defRPr>
                      </a:pPr>
                      <a:r>
                        <a:t>Completed (100%)</a:t>
                      </a:r>
                    </a:p>
                  </a:txBody>
                  <a:tcPr>
                    <a:solidFill>
                      <a:srgbClr val="141E30"/>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Methodology: Mathematical Formulations &amp; Pseudocode</a:t>
            </a:r>
          </a:p>
        </p:txBody>
      </p:sp>
      <p:sp>
        <p:nvSpPr>
          <p:cNvPr id="4" name="Rounded Rectangle 3"/>
          <p:cNvSpPr/>
          <p:nvPr/>
        </p:nvSpPr>
        <p:spPr>
          <a:xfrm>
            <a:off x="731520" y="1371600"/>
            <a:ext cx="548640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5120640" cy="4480560"/>
          </a:xfrm>
          <a:prstGeom prst="rect">
            <a:avLst/>
          </a:prstGeom>
          <a:noFill/>
        </p:spPr>
        <p:txBody>
          <a:bodyPr wrap="square">
            <a:spAutoFit/>
          </a:bodyPr>
          <a:lstStyle/>
          <a:p>
            <a:pPr>
              <a:defRPr sz="1300" b="1">
                <a:solidFill>
                  <a:srgbClr val="00F2FE"/>
                </a:solidFill>
              </a:defRPr>
            </a:pPr>
            <a:r>
              <a:t>MATHEMATICAL SCORING FORMULATION</a:t>
            </a:r>
          </a:p>
          <a:p>
            <a:pPr>
              <a:spcBef>
                <a:spcPts val="600"/>
              </a:spcBef>
              <a:defRPr sz="1050" b="1">
                <a:solidFill>
                  <a:srgbClr val="38BDF8"/>
                </a:solidFill>
              </a:defRPr>
            </a:pPr>
            <a:r>
              <a:t>Multi-Factor Overlap Score:</a:t>
            </a:r>
          </a:p>
          <a:p>
            <a:pPr>
              <a:spcBef>
                <a:spcPts val="100"/>
              </a:spcBef>
              <a:defRPr sz="950">
                <a:solidFill>
                  <a:srgbClr val="10B981"/>
                </a:solidFill>
              </a:defRPr>
            </a:pPr>
            <a:r>
              <a:t>Score(s) = α·Direct + β·Lemma + γ·Example + δ·Synonym + ε·Hypernym</a:t>
            </a:r>
          </a:p>
          <a:p>
            <a:pPr>
              <a:spcBef>
                <a:spcPts val="600"/>
              </a:spcBef>
              <a:defRPr sz="1050" b="1">
                <a:solidFill>
                  <a:srgbClr val="38BDF8"/>
                </a:solidFill>
              </a:defRPr>
            </a:pPr>
            <a:r>
              <a:t>Weights Applied:</a:t>
            </a:r>
          </a:p>
          <a:p>
            <a:pPr>
              <a:spcBef>
                <a:spcPts val="100"/>
              </a:spcBef>
              <a:defRPr sz="950">
                <a:solidFill>
                  <a:srgbClr val="F8FAFC"/>
                </a:solidFill>
              </a:defRPr>
            </a:pPr>
            <a:r>
              <a:t>α = 1.5 (Direct Exact Tokens)</a:t>
            </a:r>
            <a:br/>
            <a:r>
              <a:t>β = 1.2 (Lemma Tokens)</a:t>
            </a:r>
            <a:br/>
            <a:r>
              <a:t>γ = 1.0 (Example Sentence Lemmas)</a:t>
            </a:r>
            <a:br/>
            <a:r>
              <a:t>δ = 0.7 (Thesaurus Synonyms)</a:t>
            </a:r>
            <a:br/>
            <a:r>
              <a:t>ε = 0.5 (Hypernym Hierarchy)</a:t>
            </a:r>
          </a:p>
          <a:p>
            <a:pPr>
              <a:spcBef>
                <a:spcPts val="600"/>
              </a:spcBef>
              <a:defRPr sz="1050" b="1">
                <a:solidFill>
                  <a:srgbClr val="38BDF8"/>
                </a:solidFill>
              </a:defRPr>
            </a:pPr>
            <a:r>
              <a:t>Target Self-Match Exclusion:</a:t>
            </a:r>
          </a:p>
          <a:p>
            <a:pPr>
              <a:spcBef>
                <a:spcPts val="100"/>
              </a:spcBef>
              <a:defRPr sz="950">
                <a:solidFill>
                  <a:srgbClr val="F8FAFC"/>
                </a:solidFill>
              </a:defRPr>
            </a:pPr>
            <a:r>
              <a:t>C_lemmas = Lemmatize(Context) \ {target_word}</a:t>
            </a:r>
          </a:p>
          <a:p>
            <a:pPr>
              <a:spcBef>
                <a:spcPts val="600"/>
              </a:spcBef>
              <a:defRPr sz="1050" b="1">
                <a:solidFill>
                  <a:srgbClr val="38BDF8"/>
                </a:solidFill>
              </a:defRPr>
            </a:pPr>
            <a:r>
              <a:t>Relative Confidence Ratio:</a:t>
            </a:r>
          </a:p>
          <a:p>
            <a:pPr>
              <a:spcBef>
                <a:spcPts val="100"/>
              </a:spcBef>
              <a:defRPr sz="950">
                <a:solidFill>
                  <a:srgbClr val="10B981"/>
                </a:solidFill>
              </a:defRPr>
            </a:pPr>
            <a:r>
              <a:t>Confidence(s*) = Score(s*) / ∑_{s ∈ Synsets} Score(s)</a:t>
            </a:r>
          </a:p>
          <a:p>
            <a:pPr>
              <a:spcBef>
                <a:spcPts val="600"/>
              </a:spcBef>
              <a:defRPr sz="1050" b="1">
                <a:solidFill>
                  <a:srgbClr val="38BDF8"/>
                </a:solidFill>
              </a:defRPr>
            </a:pPr>
            <a:r>
              <a:t>Predicted Sense Selection:</a:t>
            </a:r>
          </a:p>
          <a:p>
            <a:pPr>
              <a:spcBef>
                <a:spcPts val="100"/>
              </a:spcBef>
              <a:defRPr sz="950">
                <a:solidFill>
                  <a:srgbClr val="10B981"/>
                </a:solidFill>
              </a:defRPr>
            </a:pPr>
            <a:r>
              <a:t>s* = argmax_{s ∈ Synsets(w)} Score(s)</a:t>
            </a:r>
          </a:p>
        </p:txBody>
      </p:sp>
      <p:sp>
        <p:nvSpPr>
          <p:cNvPr id="6" name="Rounded Rectangle 5"/>
          <p:cNvSpPr/>
          <p:nvPr/>
        </p:nvSpPr>
        <p:spPr>
          <a:xfrm>
            <a:off x="6400800" y="1371600"/>
            <a:ext cx="505937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554480"/>
            <a:ext cx="4693615" cy="4480560"/>
          </a:xfrm>
          <a:prstGeom prst="rect">
            <a:avLst/>
          </a:prstGeom>
          <a:noFill/>
        </p:spPr>
        <p:txBody>
          <a:bodyPr wrap="square">
            <a:spAutoFit/>
          </a:bodyPr>
          <a:lstStyle/>
          <a:p>
            <a:pPr>
              <a:defRPr sz="1300" b="1">
                <a:solidFill>
                  <a:srgbClr val="00F2FE"/>
                </a:solidFill>
              </a:defRPr>
            </a:pPr>
            <a:r>
              <a:t>CORE ALGORITHM PSEUDOCODE</a:t>
            </a:r>
          </a:p>
          <a:p>
            <a:pPr>
              <a:spcBef>
                <a:spcPts val="200"/>
              </a:spcBef>
              <a:defRPr sz="850">
                <a:solidFill>
                  <a:srgbClr val="00F2FE"/>
                </a:solidFill>
                <a:latin typeface="Consolas"/>
              </a:defRPr>
            </a:pPr>
            <a:r>
              <a:t>function DisambiguateWord(transcript, target, window_size):</a:t>
            </a:r>
          </a:p>
          <a:p>
            <a:pPr>
              <a:spcBef>
                <a:spcPts val="200"/>
              </a:spcBef>
              <a:defRPr sz="850">
                <a:solidFill>
                  <a:srgbClr val="F8FAFC"/>
                </a:solidFill>
                <a:latin typeface="Consolas"/>
              </a:defRPr>
            </a:pPr>
            <a:r>
              <a:t>    tokens = Tokenize(Normalize(transcript))</a:t>
            </a:r>
          </a:p>
          <a:p>
            <a:pPr>
              <a:spcBef>
                <a:spcPts val="200"/>
              </a:spcBef>
              <a:defRPr sz="850">
                <a:solidFill>
                  <a:srgbClr val="F8FAFC"/>
                </a:solidFill>
                <a:latin typeface="Consolas"/>
              </a:defRPr>
            </a:pPr>
            <a:r>
              <a:t>    context = ExtractWindow(tokens, target, window_size)</a:t>
            </a:r>
          </a:p>
          <a:p>
            <a:pPr>
              <a:spcBef>
                <a:spcPts val="200"/>
              </a:spcBef>
              <a:defRPr sz="850">
                <a:solidFill>
                  <a:srgbClr val="F8FAFC"/>
                </a:solidFill>
                <a:latin typeface="Consolas"/>
              </a:defRPr>
            </a:pPr>
            <a:r>
              <a:t>    ctx_lemmas = Preprocess(context) \ {target}</a:t>
            </a:r>
          </a:p>
          <a:p>
            <a:pPr>
              <a:spcBef>
                <a:spcPts val="200"/>
              </a:spcBef>
              <a:defRPr sz="850">
                <a:solidFill>
                  <a:srgbClr val="F8FAFC"/>
                </a:solidFill>
                <a:latin typeface="Consolas"/>
              </a:defRPr>
            </a:pPr>
            <a:r>
              <a:t>    inferred_pos = InferPOS(context, target)</a:t>
            </a:r>
          </a:p>
          <a:p>
            <a:pPr>
              <a:spcBef>
                <a:spcPts val="200"/>
              </a:spcBef>
              <a:defRPr sz="850">
                <a:solidFill>
                  <a:srgbClr val="F8FAFC"/>
                </a:solidFill>
                <a:latin typeface="Consolas"/>
              </a:defRPr>
            </a:pPr>
            <a:r>
              <a:t>    synsets = GetWordNetSynsets(target, pos=inferred_pos)</a:t>
            </a:r>
          </a:p>
          <a:p>
            <a:pPr>
              <a:spcBef>
                <a:spcPts val="200"/>
              </a:spcBef>
              <a:defRPr sz="850">
                <a:solidFill>
                  <a:srgbClr val="F8FAFC"/>
                </a:solidFill>
                <a:latin typeface="Consolas"/>
              </a:defRPr>
            </a:pPr>
            <a:r>
              <a:t>    synonyms = GetSynonymExpansions(ctx_lemmas)</a:t>
            </a:r>
          </a:p>
          <a:p>
            <a:pPr>
              <a:spcBef>
                <a:spcPts val="200"/>
              </a:spcBef>
              <a:defRPr sz="850">
                <a:solidFill>
                  <a:srgbClr val="F8FAFC"/>
                </a:solidFill>
                <a:latin typeface="Consolas"/>
              </a:defRPr>
            </a:pPr>
            <a:r>
              <a:t>    scored_list = []</a:t>
            </a:r>
          </a:p>
          <a:p>
            <a:pPr>
              <a:spcBef>
                <a:spcPts val="200"/>
              </a:spcBef>
              <a:defRPr sz="850">
                <a:solidFill>
                  <a:srgbClr val="F8FAFC"/>
                </a:solidFill>
                <a:latin typeface="Consolas"/>
              </a:defRPr>
            </a:pPr>
            <a:r>
              <a:t>    for sense in synsets:</a:t>
            </a:r>
          </a:p>
          <a:p>
            <a:pPr>
              <a:spcBef>
                <a:spcPts val="200"/>
              </a:spcBef>
              <a:defRPr sz="850">
                <a:solidFill>
                  <a:srgbClr val="F8FAFC"/>
                </a:solidFill>
                <a:latin typeface="Consolas"/>
              </a:defRPr>
            </a:pPr>
            <a:r>
              <a:t>        details = ExtractSynsetDetails(sense)</a:t>
            </a:r>
          </a:p>
          <a:p>
            <a:pPr>
              <a:spcBef>
                <a:spcPts val="200"/>
              </a:spcBef>
              <a:defRPr sz="850">
                <a:solidFill>
                  <a:srgbClr val="F8FAFC"/>
                </a:solidFill>
                <a:latin typeface="Consolas"/>
              </a:defRPr>
            </a:pPr>
            <a:r>
              <a:t>        score = CalculateOverlap(ctx_lemmas, details, synonyms)</a:t>
            </a:r>
          </a:p>
          <a:p>
            <a:pPr>
              <a:spcBef>
                <a:spcPts val="200"/>
              </a:spcBef>
              <a:defRPr sz="850">
                <a:solidFill>
                  <a:srgbClr val="F8FAFC"/>
                </a:solidFill>
                <a:latin typeface="Consolas"/>
              </a:defRPr>
            </a:pPr>
            <a:r>
              <a:t>        scored_list.append((sense, score))</a:t>
            </a:r>
          </a:p>
          <a:p>
            <a:pPr>
              <a:spcBef>
                <a:spcPts val="200"/>
              </a:spcBef>
              <a:defRPr sz="850">
                <a:solidFill>
                  <a:srgbClr val="F8FAFC"/>
                </a:solidFill>
                <a:latin typeface="Consolas"/>
              </a:defRPr>
            </a:pPr>
            <a:r>
              <a:t>    SortDescendingByScore(scored_list)</a:t>
            </a:r>
          </a:p>
          <a:p>
            <a:pPr>
              <a:spcBef>
                <a:spcPts val="200"/>
              </a:spcBef>
              <a:defRPr sz="850">
                <a:solidFill>
                  <a:srgbClr val="F8FAFC"/>
                </a:solidFill>
                <a:latin typeface="Consolas"/>
              </a:defRPr>
            </a:pPr>
            <a:r>
              <a:t>    top_sense = scored_list[0]</a:t>
            </a:r>
          </a:p>
          <a:p>
            <a:pPr>
              <a:spcBef>
                <a:spcPts val="200"/>
              </a:spcBef>
              <a:defRPr sz="850">
                <a:solidFill>
                  <a:srgbClr val="F8FAFC"/>
                </a:solidFill>
                <a:latin typeface="Consolas"/>
              </a:defRPr>
            </a:pPr>
            <a:r>
              <a:t>    confidence = top_sense.score / Sum(scores)</a:t>
            </a:r>
          </a:p>
          <a:p>
            <a:pPr>
              <a:spcBef>
                <a:spcPts val="200"/>
              </a:spcBef>
              <a:defRPr sz="850">
                <a:solidFill>
                  <a:srgbClr val="00F2FE"/>
                </a:solidFill>
                <a:latin typeface="Consolas"/>
              </a:defRPr>
            </a:pPr>
            <a:r>
              <a:t>    return (top_sense, confidence, BuildExplanation(top_sense))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Web Application Interface &amp; Interactive Dashboard</a:t>
            </a:r>
          </a:p>
        </p:txBody>
      </p:sp>
      <p:sp>
        <p:nvSpPr>
          <p:cNvPr id="4" name="Rounded Rectangle 3"/>
          <p:cNvSpPr/>
          <p:nvPr/>
        </p:nvSpPr>
        <p:spPr>
          <a:xfrm>
            <a:off x="731520" y="1371600"/>
            <a:ext cx="107286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2895" cy="4480560"/>
          </a:xfrm>
          <a:prstGeom prst="rect">
            <a:avLst/>
          </a:prstGeom>
          <a:noFill/>
        </p:spPr>
        <p:txBody>
          <a:bodyPr wrap="square">
            <a:spAutoFit/>
          </a:bodyPr>
          <a:lstStyle/>
          <a:p>
            <a:pPr>
              <a:defRPr sz="1300" b="1">
                <a:solidFill>
                  <a:srgbClr val="00F2FE"/>
                </a:solidFill>
              </a:defRPr>
            </a:pPr>
            <a:r>
              <a:t>FLASK WEB APPLICATION STRUCTURE (python app.py)</a:t>
            </a:r>
          </a:p>
          <a:p>
            <a:pPr>
              <a:spcBef>
                <a:spcPts val="600"/>
              </a:spcBef>
              <a:defRPr sz="1100" b="1">
                <a:solidFill>
                  <a:srgbClr val="38BDF8"/>
                </a:solidFill>
              </a:defRPr>
            </a:pPr>
            <a:r>
              <a:t>1. Home Dashboard (/) [Placeholder: WEB APP HOME DASHBOARD SCREENSHOT]</a:t>
            </a:r>
          </a:p>
          <a:p>
            <a:pPr>
              <a:spcBef>
                <a:spcPts val="100"/>
              </a:spcBef>
              <a:defRPr sz="950">
                <a:solidFill>
                  <a:srgbClr val="F8FAFC"/>
                </a:solidFill>
              </a:defRPr>
            </a:pPr>
            <a:r>
              <a:t>   Displays project overview, core processing pipeline diagram, and dynamic benchmark metrics cards (Total samples, Custom accuracy %, Baseline accuracy %, Avg senses/word).</a:t>
            </a:r>
          </a:p>
          <a:p>
            <a:pPr>
              <a:spcBef>
                <a:spcPts val="600"/>
              </a:spcBef>
              <a:defRPr sz="1100" b="1">
                <a:solidFill>
                  <a:srgbClr val="38BDF8"/>
                </a:solidFill>
              </a:defRPr>
            </a:pPr>
            <a:r>
              <a:t>2. WSD Analyzer (/analyzer) [Placeholder: WSD ANALYZER INPUT SCREENSHOT]</a:t>
            </a:r>
          </a:p>
          <a:p>
            <a:pPr>
              <a:spcBef>
                <a:spcPts val="100"/>
              </a:spcBef>
              <a:defRPr sz="950">
                <a:solidFill>
                  <a:srgbClr val="F8FAFC"/>
                </a:solidFill>
              </a:defRPr>
            </a:pPr>
            <a:r>
              <a:t>   Interactive input form featuring transcript textarea, target word input, context window slider (±5 to ±25 words), and one-click sample presets for Geology, Economics, Biology, Engineering, and Computer Science.</a:t>
            </a:r>
          </a:p>
          <a:p>
            <a:pPr>
              <a:spcBef>
                <a:spcPts val="600"/>
              </a:spcBef>
              <a:defRPr sz="1100" b="1">
                <a:solidFill>
                  <a:srgbClr val="38BDF8"/>
                </a:solidFill>
              </a:defRPr>
            </a:pPr>
            <a:r>
              <a:t>3. Results Spotlight &amp; XAI (/results) [Placeholder: RESULTS &amp; XAI SCREENSHOT]</a:t>
            </a:r>
          </a:p>
          <a:p>
            <a:pPr>
              <a:spcBef>
                <a:spcPts val="100"/>
              </a:spcBef>
              <a:defRPr sz="950">
                <a:solidFill>
                  <a:srgbClr val="F8FAFC"/>
                </a:solidFill>
              </a:defRPr>
            </a:pPr>
            <a:r>
              <a:t>   Highlights target word inside extracted context, displays 3-stage preprocessing breakdown, predicted sense spotlight card, relative confidence progress bar, matched evidence badges, and complete candidate sense ranking table.</a:t>
            </a:r>
          </a:p>
          <a:p>
            <a:pPr>
              <a:spcBef>
                <a:spcPts val="600"/>
              </a:spcBef>
              <a:defRPr sz="1100" b="1">
                <a:solidFill>
                  <a:srgbClr val="38BDF8"/>
                </a:solidFill>
              </a:defRPr>
            </a:pPr>
            <a:r>
              <a:t>4. Benchmark Evaluation (/evaluation) [Placeholder: EVALUATION DASHBOARD SCREENSHOT]</a:t>
            </a:r>
          </a:p>
          <a:p>
            <a:pPr>
              <a:spcBef>
                <a:spcPts val="100"/>
              </a:spcBef>
              <a:defRPr sz="950">
                <a:solidFill>
                  <a:srgbClr val="F8FAFC"/>
                </a:solidFill>
              </a:defRPr>
            </a:pPr>
            <a:r>
              <a:t>   Presents quantitative comparison against Lesk baseline, SVG Chart.js bar and donut charts, 25-sample benchmark test table, and qualitative error analysis.</a:t>
            </a:r>
          </a:p>
          <a:p>
            <a:pPr>
              <a:spcBef>
                <a:spcPts val="600"/>
              </a:spcBef>
              <a:defRPr sz="1100" b="1">
                <a:solidFill>
                  <a:srgbClr val="38BDF8"/>
                </a:solidFill>
              </a:defRPr>
            </a:pPr>
            <a:r>
              <a:t>5. Methodology &amp; Viva Guide (/about) [Placeholder: METHODOLOGY PAGE SCREENSHOT]</a:t>
            </a:r>
          </a:p>
          <a:p>
            <a:pPr>
              <a:spcBef>
                <a:spcPts val="100"/>
              </a:spcBef>
              <a:defRPr sz="950">
                <a:solidFill>
                  <a:srgbClr val="F8FAFC"/>
                </a:solidFill>
              </a:defRPr>
            </a:pPr>
            <a:r>
              <a:t>   Interactive documentation page containing mathematical formulations, ASCII architecture diagrams, 5 detailed viva Q&amp;A answers, and presentation slide outline.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Real Working Project Execution Trace &amp; Output</a:t>
            </a:r>
          </a:p>
        </p:txBody>
      </p:sp>
      <p:sp>
        <p:nvSpPr>
          <p:cNvPr id="4" name="Rounded Rectangle 3"/>
          <p:cNvSpPr/>
          <p:nvPr/>
        </p:nvSpPr>
        <p:spPr>
          <a:xfrm>
            <a:off x="731520" y="1371600"/>
            <a:ext cx="107286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2895" cy="4480560"/>
          </a:xfrm>
          <a:prstGeom prst="rect">
            <a:avLst/>
          </a:prstGeom>
          <a:noFill/>
        </p:spPr>
        <p:txBody>
          <a:bodyPr wrap="square">
            <a:spAutoFit/>
          </a:bodyPr>
          <a:lstStyle/>
          <a:p>
            <a:pPr>
              <a:defRPr sz="1300" b="1">
                <a:solidFill>
                  <a:srgbClr val="00F2FE"/>
                </a:solidFill>
              </a:defRPr>
            </a:pPr>
            <a:r>
              <a:t>ACTUAL SYSTEM OUTPUT TRACE (Geology Transcript Example)</a:t>
            </a:r>
          </a:p>
          <a:p>
            <a:pPr>
              <a:spcBef>
                <a:spcPts val="400"/>
              </a:spcBef>
              <a:defRPr sz="950">
                <a:solidFill>
                  <a:srgbClr val="F8FAFC"/>
                </a:solidFill>
              </a:defRPr>
            </a:pPr>
            <a:r>
              <a:t>Input Transcript: "Geologists surveyed the river bank to measure soil erosion along the sloping water edge."</a:t>
            </a:r>
          </a:p>
          <a:p>
            <a:pPr>
              <a:spcBef>
                <a:spcPts val="400"/>
              </a:spcBef>
              <a:defRPr sz="950">
                <a:solidFill>
                  <a:srgbClr val="F8FAFC"/>
                </a:solidFill>
              </a:defRPr>
            </a:pPr>
            <a:r>
              <a:t>Target Word: 'bank' | Window Size: ±10 words | Selected Occurrence: 1 of 1</a:t>
            </a:r>
          </a:p>
          <a:p>
            <a:pPr>
              <a:spcBef>
                <a:spcPts val="400"/>
              </a:spcBef>
              <a:defRPr sz="950">
                <a:solidFill>
                  <a:srgbClr val="F8FAFC"/>
                </a:solidFill>
              </a:defRPr>
            </a:pPr>
            <a:r>
              <a:t>Extracted Context: ... geologists surveyed the river &lt;mark&gt;bank&lt;/mark&gt; to measure soil erosion along the sloping water edge ...</a:t>
            </a:r>
          </a:p>
          <a:p>
            <a:pPr>
              <a:spcBef>
                <a:spcPts val="400"/>
              </a:spcBef>
              <a:defRPr sz="950">
                <a:solidFill>
                  <a:srgbClr val="F8FAFC"/>
                </a:solidFill>
              </a:defRPr>
            </a:pPr>
            <a:r>
              <a:t>Preprocessing Pipeline: Original Tokens -&gt; ['geologists', 'surveyed', 'river', 'bank', 'measure', 'soil', 'erosion', 'sloping', 'water', 'edge']</a:t>
            </a:r>
            <a:br/>
            <a:r>
              <a:t>Filtered Tokens  -&gt; ['geologists', 'surveyed', 'river', 'measure', 'soil', 'erosion', 'sloping', 'water', 'edge']</a:t>
            </a:r>
            <a:br/>
            <a:r>
              <a:t>Lemmatized Tokens -&gt; ['geologist', 'survey', 'river', 'measure', 'soil', 'erosion', 'slope', 'water', 'edge']</a:t>
            </a:r>
          </a:p>
          <a:p>
            <a:pPr>
              <a:spcBef>
                <a:spcPts val="400"/>
              </a:spcBef>
              <a:defRPr sz="950">
                <a:solidFill>
                  <a:srgbClr val="F8FAFC"/>
                </a:solidFill>
              </a:defRPr>
            </a:pPr>
            <a:r>
              <a:t>WordNet Senses Searched: 10 candidate synsets evaluated (bank.n.01, depository_financial_institution.n.01, bank.n.03, bank.n.04, ...)</a:t>
            </a:r>
          </a:p>
          <a:p>
            <a:pPr>
              <a:spcBef>
                <a:spcPts val="400"/>
              </a:spcBef>
              <a:defRPr sz="950">
                <a:solidFill>
                  <a:srgbClr val="10B981"/>
                </a:solidFill>
              </a:defRPr>
            </a:pPr>
            <a:r>
              <a:t>Predicted Word Sense: bank.n.01 — Definition: "sloping land (especially the slope beside a body of water)"</a:t>
            </a:r>
          </a:p>
          <a:p>
            <a:pPr>
              <a:spcBef>
                <a:spcPts val="400"/>
              </a:spcBef>
              <a:defRPr sz="950">
                <a:solidFill>
                  <a:srgbClr val="F8FAFC"/>
                </a:solidFill>
              </a:defRPr>
            </a:pPr>
            <a:r>
              <a:t>Scoring Breakdown: Direct Score: 3.0 | Lemma Score: 2.0 | Example Score: 1.0 | Synonym Score: 0.7 | Total Score: 6.4</a:t>
            </a:r>
          </a:p>
          <a:p>
            <a:pPr>
              <a:spcBef>
                <a:spcPts val="400"/>
              </a:spcBef>
              <a:defRPr sz="950">
                <a:solidFill>
                  <a:srgbClr val="10B981"/>
                </a:solidFill>
              </a:defRPr>
            </a:pPr>
            <a:r>
              <a:t>Relative Confidence: 58.2% (Score 6.4 / Total Sum 11.0) | Matched Evidence: ['river', 'water', 'soil', 'erosion', 'sloping', 'edge']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Empirical Evaluation Benchmark &amp; Results Analysis</a:t>
            </a:r>
          </a:p>
        </p:txBody>
      </p:sp>
      <p:sp>
        <p:nvSpPr>
          <p:cNvPr id="4" name="Rounded Rectangle 3"/>
          <p:cNvSpPr/>
          <p:nvPr/>
        </p:nvSpPr>
        <p:spPr>
          <a:xfrm>
            <a:off x="731520" y="1371600"/>
            <a:ext cx="621792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5852160" cy="4480560"/>
          </a:xfrm>
          <a:prstGeom prst="rect">
            <a:avLst/>
          </a:prstGeom>
          <a:noFill/>
        </p:spPr>
        <p:txBody>
          <a:bodyPr wrap="square">
            <a:spAutoFit/>
          </a:bodyPr>
          <a:lstStyle/>
          <a:p>
            <a:pPr>
              <a:defRPr sz="1300" b="1">
                <a:solidFill>
                  <a:srgbClr val="00F2FE"/>
                </a:solidFill>
              </a:defRPr>
            </a:pPr>
            <a:r>
              <a:t>BENCHMARK PERFORMANCE COMPARISON</a:t>
            </a:r>
          </a:p>
        </p:txBody>
      </p:sp>
      <p:graphicFrame>
        <p:nvGraphicFramePr>
          <p:cNvPr id="6" name="Table 5"/>
          <p:cNvGraphicFramePr>
            <a:graphicFrameLocks noGrp="1"/>
          </p:cNvGraphicFramePr>
          <p:nvPr/>
        </p:nvGraphicFramePr>
        <p:xfrm>
          <a:off x="914400" y="2011680"/>
          <a:ext cx="5852160" cy="2651760"/>
        </p:xfrm>
        <a:graphic>
          <a:graphicData uri="http://schemas.openxmlformats.org/drawingml/2006/table">
            <a:tbl>
              <a:tblPr firstRow="1" bandRow="1">
                <a:tableStyleId>{5C22544A-7EE6-4342-B048-85BDC9FD1C3A}</a:tableStyleId>
              </a:tblPr>
              <a:tblGrid>
                <a:gridCol w="1950720"/>
                <a:gridCol w="1950720"/>
                <a:gridCol w="1950720"/>
              </a:tblGrid>
              <a:tr h="530352">
                <a:tc>
                  <a:txBody>
                    <a:bodyPr/>
                    <a:lstStyle/>
                    <a:p>
                      <a:pPr>
                        <a:defRPr sz="950">
                          <a:solidFill>
                            <a:srgbClr val="F8FAFC"/>
                          </a:solidFill>
                        </a:defRPr>
                      </a:pPr>
                      <a:r>
                        <a:t>Evaluation Metric</a:t>
                      </a:r>
                    </a:p>
                  </a:txBody>
                  <a:tcPr>
                    <a:solidFill>
                      <a:srgbClr val="1E293B"/>
                    </a:solidFill>
                  </a:tcPr>
                </a:tc>
                <a:tc>
                  <a:txBody>
                    <a:bodyPr/>
                    <a:lstStyle/>
                    <a:p>
                      <a:pPr>
                        <a:defRPr sz="950">
                          <a:solidFill>
                            <a:srgbClr val="00F2FE"/>
                          </a:solidFill>
                        </a:defRPr>
                      </a:pPr>
                      <a:r>
                        <a:t>EduSense Custom WSD</a:t>
                      </a:r>
                    </a:p>
                  </a:txBody>
                  <a:tcPr>
                    <a:solidFill>
                      <a:srgbClr val="1E293B"/>
                    </a:solidFill>
                  </a:tcPr>
                </a:tc>
                <a:tc>
                  <a:txBody>
                    <a:bodyPr/>
                    <a:lstStyle/>
                    <a:p>
                      <a:pPr>
                        <a:defRPr sz="950">
                          <a:solidFill>
                            <a:srgbClr val="F8FAFC"/>
                          </a:solidFill>
                        </a:defRPr>
                      </a:pPr>
                      <a:r>
                        <a:t>NLTK Lesk Baseline</a:t>
                      </a:r>
                    </a:p>
                  </a:txBody>
                  <a:tcPr>
                    <a:solidFill>
                      <a:srgbClr val="1E293B"/>
                    </a:solidFill>
                  </a:tcPr>
                </a:tc>
              </a:tr>
              <a:tr h="530352">
                <a:tc>
                  <a:txBody>
                    <a:bodyPr/>
                    <a:lstStyle/>
                    <a:p>
                      <a:pPr>
                        <a:defRPr sz="950">
                          <a:solidFill>
                            <a:srgbClr val="F8FAFC"/>
                          </a:solidFill>
                        </a:defRPr>
                      </a:pPr>
                      <a:r>
                        <a:t>Accuracy (%)</a:t>
                      </a:r>
                    </a:p>
                  </a:txBody>
                  <a:tcPr>
                    <a:solidFill>
                      <a:srgbClr val="1E293B"/>
                    </a:solidFill>
                  </a:tcPr>
                </a:tc>
                <a:tc>
                  <a:txBody>
                    <a:bodyPr/>
                    <a:lstStyle/>
                    <a:p>
                      <a:pPr>
                        <a:defRPr sz="950">
                          <a:solidFill>
                            <a:srgbClr val="00F2FE"/>
                          </a:solidFill>
                        </a:defRPr>
                      </a:pPr>
                      <a:r>
                        <a:t>56.0%</a:t>
                      </a:r>
                    </a:p>
                  </a:txBody>
                  <a:tcPr>
                    <a:solidFill>
                      <a:srgbClr val="1E293B"/>
                    </a:solidFill>
                  </a:tcPr>
                </a:tc>
                <a:tc>
                  <a:txBody>
                    <a:bodyPr/>
                    <a:lstStyle/>
                    <a:p>
                      <a:pPr>
                        <a:defRPr sz="950">
                          <a:solidFill>
                            <a:srgbClr val="F8FAFC"/>
                          </a:solidFill>
                        </a:defRPr>
                      </a:pPr>
                      <a:r>
                        <a:t>40.0%</a:t>
                      </a:r>
                    </a:p>
                  </a:txBody>
                  <a:tcPr>
                    <a:solidFill>
                      <a:srgbClr val="1E293B"/>
                    </a:solidFill>
                  </a:tcPr>
                </a:tc>
              </a:tr>
              <a:tr h="530352">
                <a:tc>
                  <a:txBody>
                    <a:bodyPr/>
                    <a:lstStyle/>
                    <a:p>
                      <a:pPr>
                        <a:defRPr sz="950">
                          <a:solidFill>
                            <a:srgbClr val="F8FAFC"/>
                          </a:solidFill>
                        </a:defRPr>
                      </a:pPr>
                      <a:r>
                        <a:t>Correct Predictions</a:t>
                      </a:r>
                    </a:p>
                  </a:txBody>
                  <a:tcPr>
                    <a:solidFill>
                      <a:srgbClr val="1E293B"/>
                    </a:solidFill>
                  </a:tcPr>
                </a:tc>
                <a:tc>
                  <a:txBody>
                    <a:bodyPr/>
                    <a:lstStyle/>
                    <a:p>
                      <a:pPr>
                        <a:defRPr sz="950">
                          <a:solidFill>
                            <a:srgbClr val="F8FAFC"/>
                          </a:solidFill>
                        </a:defRPr>
                      </a:pPr>
                      <a:r>
                        <a:t>14 / 25</a:t>
                      </a:r>
                    </a:p>
                  </a:txBody>
                  <a:tcPr>
                    <a:solidFill>
                      <a:srgbClr val="1E293B"/>
                    </a:solidFill>
                  </a:tcPr>
                </a:tc>
                <a:tc>
                  <a:txBody>
                    <a:bodyPr/>
                    <a:lstStyle/>
                    <a:p>
                      <a:pPr>
                        <a:defRPr sz="950">
                          <a:solidFill>
                            <a:srgbClr val="F8FAFC"/>
                          </a:solidFill>
                        </a:defRPr>
                      </a:pPr>
                      <a:r>
                        <a:t>10 / 25</a:t>
                      </a:r>
                    </a:p>
                  </a:txBody>
                  <a:tcPr>
                    <a:solidFill>
                      <a:srgbClr val="1E293B"/>
                    </a:solidFill>
                  </a:tcPr>
                </a:tc>
              </a:tr>
              <a:tr h="530352">
                <a:tc>
                  <a:txBody>
                    <a:bodyPr/>
                    <a:lstStyle/>
                    <a:p>
                      <a:pPr>
                        <a:defRPr sz="950">
                          <a:solidFill>
                            <a:srgbClr val="F8FAFC"/>
                          </a:solidFill>
                        </a:defRPr>
                      </a:pPr>
                      <a:r>
                        <a:t>Macro Precision / Recall / F1</a:t>
                      </a:r>
                    </a:p>
                  </a:txBody>
                  <a:tcPr>
                    <a:solidFill>
                      <a:srgbClr val="1E293B"/>
                    </a:solidFill>
                  </a:tcPr>
                </a:tc>
                <a:tc>
                  <a:txBody>
                    <a:bodyPr/>
                    <a:lstStyle/>
                    <a:p>
                      <a:pPr>
                        <a:defRPr sz="950">
                          <a:solidFill>
                            <a:srgbClr val="F8FAFC"/>
                          </a:solidFill>
                        </a:defRPr>
                      </a:pPr>
                      <a:r>
                        <a:t>40.3 / 45.2 / 41.9</a:t>
                      </a:r>
                    </a:p>
                  </a:txBody>
                  <a:tcPr>
                    <a:solidFill>
                      <a:srgbClr val="1E293B"/>
                    </a:solidFill>
                  </a:tcPr>
                </a:tc>
                <a:tc>
                  <a:txBody>
                    <a:bodyPr/>
                    <a:lstStyle/>
                    <a:p>
                      <a:pPr>
                        <a:defRPr sz="950">
                          <a:solidFill>
                            <a:srgbClr val="F8FAFC"/>
                          </a:solidFill>
                        </a:defRPr>
                      </a:pPr>
                      <a:r>
                        <a:t>N/A</a:t>
                      </a:r>
                    </a:p>
                  </a:txBody>
                  <a:tcPr>
                    <a:solidFill>
                      <a:srgbClr val="1E293B"/>
                    </a:solidFill>
                  </a:tcPr>
                </a:tc>
              </a:tr>
              <a:tr h="530352">
                <a:tc>
                  <a:txBody>
                    <a:bodyPr/>
                    <a:lstStyle/>
                    <a:p>
                      <a:pPr>
                        <a:defRPr sz="950">
                          <a:solidFill>
                            <a:srgbClr val="F8FAFC"/>
                          </a:solidFill>
                        </a:defRPr>
                      </a:pPr>
                      <a:r>
                        <a:t>Avg Senses per Word</a:t>
                      </a:r>
                    </a:p>
                  </a:txBody>
                  <a:tcPr>
                    <a:solidFill>
                      <a:srgbClr val="1E293B"/>
                    </a:solidFill>
                  </a:tcPr>
                </a:tc>
                <a:tc>
                  <a:txBody>
                    <a:bodyPr/>
                    <a:lstStyle/>
                    <a:p>
                      <a:pPr>
                        <a:defRPr sz="950">
                          <a:solidFill>
                            <a:srgbClr val="F8FAFC"/>
                          </a:solidFill>
                        </a:defRPr>
                      </a:pPr>
                      <a:r>
                        <a:t>6.2</a:t>
                      </a:r>
                    </a:p>
                  </a:txBody>
                  <a:tcPr>
                    <a:solidFill>
                      <a:srgbClr val="1E293B"/>
                    </a:solidFill>
                  </a:tcPr>
                </a:tc>
                <a:tc>
                  <a:txBody>
                    <a:bodyPr/>
                    <a:lstStyle/>
                    <a:p>
                      <a:pPr>
                        <a:defRPr sz="950">
                          <a:solidFill>
                            <a:srgbClr val="F8FAFC"/>
                          </a:solidFill>
                        </a:defRPr>
                      </a:pPr>
                      <a:r>
                        <a:t>6.2</a:t>
                      </a:r>
                    </a:p>
                  </a:txBody>
                  <a:tcPr>
                    <a:solidFill>
                      <a:srgbClr val="1E293B"/>
                    </a:solidFill>
                  </a:tcPr>
                </a:tc>
              </a:tr>
            </a:tbl>
          </a:graphicData>
        </a:graphic>
      </p:graphicFrame>
      <p:sp>
        <p:nvSpPr>
          <p:cNvPr id="7" name="TextBox 6"/>
          <p:cNvSpPr txBox="1"/>
          <p:nvPr/>
        </p:nvSpPr>
        <p:spPr>
          <a:xfrm>
            <a:off x="914400" y="4480560"/>
            <a:ext cx="5852160" cy="1554480"/>
          </a:xfrm>
          <a:prstGeom prst="rect">
            <a:avLst/>
          </a:prstGeom>
          <a:noFill/>
        </p:spPr>
        <p:txBody>
          <a:bodyPr wrap="square">
            <a:spAutoFit/>
          </a:bodyPr>
          <a:lstStyle/>
          <a:p>
            <a:pPr>
              <a:defRPr sz="1000">
                <a:solidFill>
                  <a:srgbClr val="10B981"/>
                </a:solidFill>
              </a:defRPr>
            </a:pPr>
            <a:r>
              <a:t>Key Result: EduSense achieves a +16.0% accuracy improvement over NLTK Simplified Lesk baseline due to thesaurus expansion, POS filtering, and hypernym hierarchy scoring.</a:t>
            </a:r>
          </a:p>
        </p:txBody>
      </p:sp>
      <p:sp>
        <p:nvSpPr>
          <p:cNvPr id="8" name="Rounded Rectangle 7"/>
          <p:cNvSpPr/>
          <p:nvPr/>
        </p:nvSpPr>
        <p:spPr>
          <a:xfrm>
            <a:off x="7132320" y="1371600"/>
            <a:ext cx="43278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554480"/>
            <a:ext cx="3962095" cy="4480560"/>
          </a:xfrm>
          <a:prstGeom prst="rect">
            <a:avLst/>
          </a:prstGeom>
          <a:noFill/>
        </p:spPr>
        <p:txBody>
          <a:bodyPr wrap="square">
            <a:spAutoFit/>
          </a:bodyPr>
          <a:lstStyle/>
          <a:p>
            <a:pPr>
              <a:defRPr sz="1300" b="1">
                <a:solidFill>
                  <a:srgbClr val="F59E0B"/>
                </a:solidFill>
              </a:defRPr>
            </a:pPr>
            <a:r>
              <a:t>QUALITATIVE ERROR ANALYSIS</a:t>
            </a:r>
          </a:p>
          <a:p>
            <a:pPr>
              <a:spcBef>
                <a:spcPts val="400"/>
              </a:spcBef>
              <a:defRPr sz="950">
                <a:solidFill>
                  <a:srgbClr val="F59E0B"/>
                </a:solidFill>
              </a:defRPr>
            </a:pPr>
            <a:r>
              <a:t>1. Sparse Gloss Definitions:</a:t>
            </a:r>
          </a:p>
          <a:p>
            <a:pPr>
              <a:spcBef>
                <a:spcPts val="400"/>
              </a:spcBef>
              <a:defRPr sz="950">
                <a:solidFill>
                  <a:srgbClr val="F8FAFC"/>
                </a:solidFill>
              </a:defRPr>
            </a:pPr>
            <a:r>
              <a:t>WordNet definitions can be very short (3-6 words). If context keywords do not explicitly match gloss tokens, overlap score drops to zero.</a:t>
            </a:r>
          </a:p>
          <a:p>
            <a:pPr>
              <a:spcBef>
                <a:spcPts val="400"/>
              </a:spcBef>
              <a:defRPr sz="950">
                <a:solidFill>
                  <a:srgbClr val="F59E0B"/>
                </a:solidFill>
              </a:defRPr>
            </a:pPr>
            <a:r>
              <a:t>2. Highly Granular Senses:</a:t>
            </a:r>
          </a:p>
          <a:p>
            <a:pPr>
              <a:spcBef>
                <a:spcPts val="400"/>
              </a:spcBef>
              <a:defRPr sz="950">
                <a:solidFill>
                  <a:srgbClr val="F8FAFC"/>
                </a:solidFill>
              </a:defRPr>
            </a:pPr>
            <a:r>
              <a:t>WordNet contains fine-grained distinction between related noun senses (e.g. tree as woody plant vs tree as hierarchical data structure).</a:t>
            </a:r>
          </a:p>
          <a:p>
            <a:pPr>
              <a:spcBef>
                <a:spcPts val="400"/>
              </a:spcBef>
              <a:defRPr sz="950">
                <a:solidFill>
                  <a:srgbClr val="F59E0B"/>
                </a:solidFill>
              </a:defRPr>
            </a:pPr>
            <a:r>
              <a:t>3. Short Context Windows:</a:t>
            </a:r>
          </a:p>
          <a:p>
            <a:pPr>
              <a:spcBef>
                <a:spcPts val="400"/>
              </a:spcBef>
              <a:defRPr sz="950">
                <a:solidFill>
                  <a:srgbClr val="F8FAFC"/>
                </a:solidFill>
              </a:defRPr>
            </a:pPr>
            <a:r>
              <a:t>Short transcript sentences with few surrounding words lack domain-specific tokens needed to tip the overlap score.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Conclusion, Key Academic Learnings &amp; Future Directions</a:t>
            </a:r>
          </a:p>
        </p:txBody>
      </p:sp>
      <p:sp>
        <p:nvSpPr>
          <p:cNvPr id="4" name="Rounded Rectangle 3"/>
          <p:cNvSpPr/>
          <p:nvPr/>
        </p:nvSpPr>
        <p:spPr>
          <a:xfrm>
            <a:off x="731520" y="1371600"/>
            <a:ext cx="3332073"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3057753" cy="4480560"/>
          </a:xfrm>
          <a:prstGeom prst="rect">
            <a:avLst/>
          </a:prstGeom>
          <a:noFill/>
        </p:spPr>
        <p:txBody>
          <a:bodyPr wrap="square">
            <a:spAutoFit/>
          </a:bodyPr>
          <a:lstStyle/>
          <a:p>
            <a:pPr>
              <a:defRPr sz="1200" b="1">
                <a:solidFill>
                  <a:srgbClr val="00F2FE"/>
                </a:solidFill>
              </a:defRPr>
            </a:pPr>
            <a:r>
              <a:t>PROJECT CONCLUSION</a:t>
            </a:r>
          </a:p>
          <a:p>
            <a:pPr>
              <a:spcBef>
                <a:spcPts val="800"/>
              </a:spcBef>
              <a:defRPr sz="950">
                <a:solidFill>
                  <a:srgbClr val="F8FAFC"/>
                </a:solidFill>
              </a:defRPr>
            </a:pPr>
            <a:r>
              <a:t>• Successfully constructed a dictionary/thesaurus WSD engine for educational transcripts.</a:t>
            </a:r>
          </a:p>
          <a:p>
            <a:pPr>
              <a:spcBef>
                <a:spcPts val="800"/>
              </a:spcBef>
              <a:defRPr sz="950">
                <a:solidFill>
                  <a:srgbClr val="F8FAFC"/>
                </a:solidFill>
              </a:defRPr>
            </a:pPr>
            <a:r>
              <a:t>• Demonstrated that transparent multi-factor gloss overlap outperforms standard Lesk by +16.0%.</a:t>
            </a:r>
          </a:p>
          <a:p>
            <a:pPr>
              <a:spcBef>
                <a:spcPts val="800"/>
              </a:spcBef>
              <a:defRPr sz="950">
                <a:solidFill>
                  <a:srgbClr val="F8FAFC"/>
                </a:solidFill>
              </a:defRPr>
            </a:pPr>
            <a:r>
              <a:t>• Proved that core NLP principles can solve lexical ambiguity without black-box LLMs.</a:t>
            </a:r>
          </a:p>
        </p:txBody>
      </p:sp>
      <p:sp>
        <p:nvSpPr>
          <p:cNvPr id="6" name="Rounded Rectangle 5"/>
          <p:cNvSpPr/>
          <p:nvPr/>
        </p:nvSpPr>
        <p:spPr>
          <a:xfrm>
            <a:off x="4429353" y="1371600"/>
            <a:ext cx="3332073"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6513" y="1554480"/>
            <a:ext cx="3057753" cy="4480560"/>
          </a:xfrm>
          <a:prstGeom prst="rect">
            <a:avLst/>
          </a:prstGeom>
          <a:noFill/>
        </p:spPr>
        <p:txBody>
          <a:bodyPr wrap="square">
            <a:spAutoFit/>
          </a:bodyPr>
          <a:lstStyle/>
          <a:p>
            <a:pPr>
              <a:defRPr sz="1200" b="1">
                <a:solidFill>
                  <a:srgbClr val="38BDF8"/>
                </a:solidFill>
              </a:defRPr>
            </a:pPr>
            <a:r>
              <a:t>KEY ACADEMIC LEARNINGS</a:t>
            </a:r>
          </a:p>
          <a:p>
            <a:pPr>
              <a:spcBef>
                <a:spcPts val="800"/>
              </a:spcBef>
              <a:defRPr sz="950">
                <a:solidFill>
                  <a:srgbClr val="F8FAFC"/>
                </a:solidFill>
              </a:defRPr>
            </a:pPr>
            <a:r>
              <a:t>• Hands-on mastery of NLTK, WordNet synset structures, and lemmatization.</a:t>
            </a:r>
          </a:p>
          <a:p>
            <a:pPr>
              <a:spcBef>
                <a:spcPts val="800"/>
              </a:spcBef>
              <a:defRPr sz="950">
                <a:solidFill>
                  <a:srgbClr val="F8FAFC"/>
                </a:solidFill>
              </a:defRPr>
            </a:pPr>
            <a:r>
              <a:t>• Understanding lexical semantics, polysemy, and context windowing dynamics.</a:t>
            </a:r>
          </a:p>
          <a:p>
            <a:pPr>
              <a:spcBef>
                <a:spcPts val="800"/>
              </a:spcBef>
              <a:defRPr sz="950">
                <a:solidFill>
                  <a:srgbClr val="F8FAFC"/>
                </a:solidFill>
              </a:defRPr>
            </a:pPr>
            <a:r>
              <a:t>• Designing transparent multi-factor scoring metrics and explainable AI (XAI).</a:t>
            </a:r>
          </a:p>
          <a:p>
            <a:pPr>
              <a:spcBef>
                <a:spcPts val="800"/>
              </a:spcBef>
              <a:defRPr sz="950">
                <a:solidFill>
                  <a:srgbClr val="F8FAFC"/>
                </a:solidFill>
              </a:defRPr>
            </a:pPr>
            <a:r>
              <a:t>• End-to-end Flask web app development &amp; empirical benchmarking.</a:t>
            </a:r>
          </a:p>
        </p:txBody>
      </p:sp>
      <p:sp>
        <p:nvSpPr>
          <p:cNvPr id="8" name="Rounded Rectangle 7"/>
          <p:cNvSpPr/>
          <p:nvPr/>
        </p:nvSpPr>
        <p:spPr>
          <a:xfrm>
            <a:off x="8127186" y="1371600"/>
            <a:ext cx="3332073"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4346" y="1554480"/>
            <a:ext cx="3057753" cy="4480560"/>
          </a:xfrm>
          <a:prstGeom prst="rect">
            <a:avLst/>
          </a:prstGeom>
          <a:noFill/>
        </p:spPr>
        <p:txBody>
          <a:bodyPr wrap="square">
            <a:spAutoFit/>
          </a:bodyPr>
          <a:lstStyle/>
          <a:p>
            <a:pPr>
              <a:defRPr sz="1200" b="1">
                <a:solidFill>
                  <a:srgbClr val="10B981"/>
                </a:solidFill>
              </a:defRPr>
            </a:pPr>
            <a:r>
              <a:t>FUTURE DIRECTIONS</a:t>
            </a:r>
          </a:p>
          <a:p>
            <a:pPr>
              <a:spcBef>
                <a:spcPts val="800"/>
              </a:spcBef>
              <a:defRPr sz="950">
                <a:solidFill>
                  <a:srgbClr val="F8FAFC"/>
                </a:solidFill>
              </a:defRPr>
            </a:pPr>
            <a:r>
              <a:t>• Hybrid WSD incorporating Sentence-BERT contextual embeddings.</a:t>
            </a:r>
          </a:p>
          <a:p>
            <a:pPr>
              <a:spcBef>
                <a:spcPts val="800"/>
              </a:spcBef>
              <a:defRPr sz="950">
                <a:solidFill>
                  <a:srgbClr val="F8FAFC"/>
                </a:solidFill>
              </a:defRPr>
            </a:pPr>
            <a:r>
              <a:t>• Expanding test dataset to 500+ lecture transcripts across diverse domains.</a:t>
            </a:r>
          </a:p>
          <a:p>
            <a:pPr>
              <a:spcBef>
                <a:spcPts val="800"/>
              </a:spcBef>
              <a:defRPr sz="950">
                <a:solidFill>
                  <a:srgbClr val="F8FAFC"/>
                </a:solidFill>
              </a:defRPr>
            </a:pPr>
            <a:r>
              <a:t>• Domain-specific educational taxonomy priors (e.g. Physics vs Finance weightings).</a:t>
            </a:r>
          </a:p>
          <a:p>
            <a:pPr>
              <a:spcBef>
                <a:spcPts val="800"/>
              </a:spcBef>
              <a:defRPr sz="950">
                <a:solidFill>
                  <a:srgbClr val="F8FAFC"/>
                </a:solidFill>
              </a:defRPr>
            </a:pPr>
            <a:r>
              <a:t>• Real-time speech-to-text integration for live classroom streaming.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Live System Demonstration &amp; Evaluator Execution Workflow</a:t>
            </a:r>
          </a:p>
        </p:txBody>
      </p:sp>
      <p:sp>
        <p:nvSpPr>
          <p:cNvPr id="4" name="Rounded Rectangle 3"/>
          <p:cNvSpPr/>
          <p:nvPr/>
        </p:nvSpPr>
        <p:spPr>
          <a:xfrm>
            <a:off x="731520" y="1371600"/>
            <a:ext cx="107286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2895" cy="4480560"/>
          </a:xfrm>
          <a:prstGeom prst="rect">
            <a:avLst/>
          </a:prstGeom>
          <a:noFill/>
        </p:spPr>
        <p:txBody>
          <a:bodyPr wrap="square">
            <a:spAutoFit/>
          </a:bodyPr>
          <a:lstStyle/>
          <a:p>
            <a:pPr>
              <a:defRPr sz="1300" b="1">
                <a:solidFill>
                  <a:srgbClr val="00F2FE"/>
                </a:solidFill>
              </a:defRPr>
            </a:pPr>
            <a:r>
              <a:t>LIVE DEMONSTRATION WORKFLOW (http://127.0.0.1:5000)</a:t>
            </a:r>
          </a:p>
          <a:p>
            <a:pPr>
              <a:spcBef>
                <a:spcPts val="600"/>
              </a:spcBef>
              <a:defRPr sz="1100" b="1">
                <a:solidFill>
                  <a:srgbClr val="10B981"/>
                </a:solidFill>
              </a:defRPr>
            </a:pPr>
            <a:r>
              <a:t>Step 1: Application Startup</a:t>
            </a:r>
          </a:p>
          <a:p>
            <a:pPr>
              <a:spcBef>
                <a:spcPts val="100"/>
              </a:spcBef>
              <a:defRPr sz="950">
                <a:solidFill>
                  <a:srgbClr val="F8FAFC"/>
                </a:solidFill>
              </a:defRPr>
            </a:pPr>
            <a:r>
              <a:t>   Run `python app.py` in terminal -&gt; Automatic NLTK resource verification -&gt; Flask web server active on port 5000.</a:t>
            </a:r>
          </a:p>
          <a:p>
            <a:pPr>
              <a:spcBef>
                <a:spcPts val="600"/>
              </a:spcBef>
              <a:defRPr sz="1100" b="1">
                <a:solidFill>
                  <a:srgbClr val="10B981"/>
                </a:solidFill>
              </a:defRPr>
            </a:pPr>
            <a:r>
              <a:t>Step 2: Interactive WSD Analysis</a:t>
            </a:r>
          </a:p>
          <a:p>
            <a:pPr>
              <a:spcBef>
                <a:spcPts val="100"/>
              </a:spcBef>
              <a:defRPr sz="950">
                <a:solidFill>
                  <a:srgbClr val="F8FAFC"/>
                </a:solidFill>
              </a:defRPr>
            </a:pPr>
            <a:r>
              <a:t>   Navigate to `/analyzer` -&gt; Click preloaded preset (e.g. Geology River Bank or CS Memory) or paste custom lecture transcript.</a:t>
            </a:r>
          </a:p>
          <a:p>
            <a:pPr>
              <a:spcBef>
                <a:spcPts val="600"/>
              </a:spcBef>
              <a:defRPr sz="1100" b="1">
                <a:solidFill>
                  <a:srgbClr val="10B981"/>
                </a:solidFill>
              </a:defRPr>
            </a:pPr>
            <a:r>
              <a:t>Step 3: Disambiguation Execution</a:t>
            </a:r>
          </a:p>
          <a:p>
            <a:pPr>
              <a:spcBef>
                <a:spcPts val="100"/>
              </a:spcBef>
              <a:defRPr sz="950">
                <a:solidFill>
                  <a:srgbClr val="F8FAFC"/>
                </a:solidFill>
              </a:defRPr>
            </a:pPr>
            <a:r>
              <a:t>   Set window size slider (±10 words) -&gt; Click 'Disambiguate Word Sense' -&gt; Instant algorithmic processing.</a:t>
            </a:r>
          </a:p>
          <a:p>
            <a:pPr>
              <a:spcBef>
                <a:spcPts val="600"/>
              </a:spcBef>
              <a:defRPr sz="1100" b="1">
                <a:solidFill>
                  <a:srgbClr val="10B981"/>
                </a:solidFill>
              </a:defRPr>
            </a:pPr>
            <a:r>
              <a:t>Step 4: Inspect Results &amp; XAI Evidence</a:t>
            </a:r>
          </a:p>
          <a:p>
            <a:pPr>
              <a:spcBef>
                <a:spcPts val="100"/>
              </a:spcBef>
              <a:defRPr sz="950">
                <a:solidFill>
                  <a:srgbClr val="F8FAFC"/>
                </a:solidFill>
              </a:defRPr>
            </a:pPr>
            <a:r>
              <a:t>   Review extracted highlighted context, 3-stage preprocessing breakdown, predicted synset spotlight card, relative confidence %, matched evidence badges, and complete candidate sense ranking table.</a:t>
            </a:r>
          </a:p>
          <a:p>
            <a:pPr>
              <a:spcBef>
                <a:spcPts val="600"/>
              </a:spcBef>
              <a:defRPr sz="1100" b="1">
                <a:solidFill>
                  <a:srgbClr val="10B981"/>
                </a:solidFill>
              </a:defRPr>
            </a:pPr>
            <a:r>
              <a:t>Step 5: View Empirical Evaluation</a:t>
            </a:r>
          </a:p>
          <a:p>
            <a:pPr>
              <a:spcBef>
                <a:spcPts val="100"/>
              </a:spcBef>
              <a:defRPr sz="950">
                <a:solidFill>
                  <a:srgbClr val="F8FAFC"/>
                </a:solidFill>
              </a:defRPr>
            </a:pPr>
            <a:r>
              <a:t>   Navigate to `/evaluation` -&gt; Inspect quantitative benchmark metrics (56.0% vs 40.0%), SVG Chart.js graphs, 25-sample test table, and qualitative error analysis.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00F2FE"/>
                </a:solidFill>
                <a:latin typeface="Calibri"/>
              </a:defRPr>
            </a:pPr>
            <a:r>
              <a:t>MT-AIML MINI PROJECT | PROBLEM 13</a:t>
            </a:r>
          </a:p>
        </p:txBody>
      </p:sp>
      <p:sp>
        <p:nvSpPr>
          <p:cNvPr id="3" name="TextBox 2"/>
          <p:cNvSpPr txBox="1"/>
          <p:nvPr/>
        </p:nvSpPr>
        <p:spPr>
          <a:xfrm>
            <a:off x="731520" y="685800"/>
            <a:ext cx="10515600" cy="548640"/>
          </a:xfrm>
          <a:prstGeom prst="rect">
            <a:avLst/>
          </a:prstGeom>
          <a:noFill/>
        </p:spPr>
        <p:txBody>
          <a:bodyPr wrap="square">
            <a:spAutoFit/>
          </a:bodyPr>
          <a:lstStyle/>
          <a:p>
            <a:pPr>
              <a:defRPr sz="2200" b="1">
                <a:solidFill>
                  <a:srgbClr val="F8FAFC"/>
                </a:solidFill>
                <a:latin typeface="Georgia"/>
              </a:defRPr>
            </a:pPr>
            <a:r>
              <a:t>Academic References &amp; Formal Citations</a:t>
            </a:r>
          </a:p>
        </p:txBody>
      </p:sp>
      <p:sp>
        <p:nvSpPr>
          <p:cNvPr id="4" name="Rounded Rectangle 3"/>
          <p:cNvSpPr/>
          <p:nvPr/>
        </p:nvSpPr>
        <p:spPr>
          <a:xfrm>
            <a:off x="731520" y="1371600"/>
            <a:ext cx="10728655"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2895" cy="4480560"/>
          </a:xfrm>
          <a:prstGeom prst="rect">
            <a:avLst/>
          </a:prstGeom>
          <a:noFill/>
        </p:spPr>
        <p:txBody>
          <a:bodyPr wrap="square">
            <a:spAutoFit/>
          </a:bodyPr>
          <a:lstStyle/>
          <a:p>
            <a:pPr>
              <a:defRPr sz="1300" b="1">
                <a:solidFill>
                  <a:srgbClr val="00F2FE"/>
                </a:solidFill>
              </a:defRPr>
            </a:pPr>
            <a:r>
              <a:t>FORMAL ACADEMIC CITATIONS &amp; RESOURCES</a:t>
            </a:r>
          </a:p>
          <a:p>
            <a:pPr>
              <a:spcBef>
                <a:spcPts val="800"/>
              </a:spcBef>
              <a:defRPr sz="950">
                <a:solidFill>
                  <a:srgbClr val="F8FAFC"/>
                </a:solidFill>
              </a:defRPr>
            </a:pPr>
            <a:r>
              <a:t>1. Lesk, M. (1986). Automatic sense disambiguation using machine readable dictionaries: how to tell a pine cone from an ice cream cone. In Proceedings of the 5th Annual International Conference on Systems Documentation (SIGDOC '86), pp. 24–26. ACM. DOI: 10.1145/318723.318728</a:t>
            </a:r>
          </a:p>
          <a:p>
            <a:pPr>
              <a:spcBef>
                <a:spcPts val="800"/>
              </a:spcBef>
              <a:defRPr sz="950">
                <a:solidFill>
                  <a:srgbClr val="F8FAFC"/>
                </a:solidFill>
              </a:defRPr>
            </a:pPr>
            <a:r>
              <a:t>2. Miller, G. A. (1995). WordNet: A lexical database for English. Communications of the ACM, 38(11), 39–41. URL: https://wordnet.princeton.edu/</a:t>
            </a:r>
          </a:p>
          <a:p>
            <a:pPr>
              <a:spcBef>
                <a:spcPts val="800"/>
              </a:spcBef>
              <a:defRPr sz="950">
                <a:solidFill>
                  <a:srgbClr val="F8FAFC"/>
                </a:solidFill>
              </a:defRPr>
            </a:pPr>
            <a:r>
              <a:t>3. Banerjee, S., &amp; Pedersen, T. (2002). An adapted Lesk algorithm for word sense disambiguation using WordNet. In Proceedings of the 3rd International Conference on Intelligent Text Processing and Computational Linguistics (CICLing '02), pp. 136–145. Springer.</a:t>
            </a:r>
          </a:p>
          <a:p>
            <a:pPr>
              <a:spcBef>
                <a:spcPts val="800"/>
              </a:spcBef>
              <a:defRPr sz="950">
                <a:solidFill>
                  <a:srgbClr val="F8FAFC"/>
                </a:solidFill>
              </a:defRPr>
            </a:pPr>
            <a:r>
              <a:t>4. Bird, S., Loper, E., &amp; Klein, E. (2009). Natural Language Processing with Python: Analyzing Text with the Natural Language Toolkit. O'Reilly Media. URL: https://www.nltk.org/</a:t>
            </a:r>
          </a:p>
          <a:p>
            <a:pPr>
              <a:spcBef>
                <a:spcPts val="800"/>
              </a:spcBef>
              <a:defRPr sz="950">
                <a:solidFill>
                  <a:srgbClr val="F8FAFC"/>
                </a:solidFill>
              </a:defRPr>
            </a:pPr>
            <a:r>
              <a:t>5. Jurafsky, D., &amp; Martin, J. H. (2023). Speech and Language Processing: An Introduction to Natural Language Processing, Computational Linguistics, and Speech Recognition (3rd ed. draft). Chapter 18: Word Senses and Word Sense Disambiguation.</a:t>
            </a:r>
          </a:p>
          <a:p>
            <a:pPr>
              <a:spcBef>
                <a:spcPts val="800"/>
              </a:spcBef>
              <a:defRPr sz="950">
                <a:solidFill>
                  <a:srgbClr val="F8FAFC"/>
                </a:solidFill>
              </a:defRPr>
            </a:pPr>
            <a:r>
              <a:t>6. MT-AIML Problem 13 Assignment Specification. Sarvajanik College of Engineering and Technology (SCET), Academic Year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